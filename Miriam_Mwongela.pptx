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71" r:id="rId2"/>
    <p:sldId id="272" r:id="rId3"/>
    <p:sldId id="256" r:id="rId4"/>
    <p:sldId id="258" r:id="rId5"/>
    <p:sldId id="259" r:id="rId6"/>
    <p:sldId id="264" r:id="rId7"/>
    <p:sldId id="260" r:id="rId8"/>
    <p:sldId id="263" r:id="rId9"/>
    <p:sldId id="266" r:id="rId10"/>
    <p:sldId id="267" r:id="rId11"/>
    <p:sldId id="268" r:id="rId12"/>
    <p:sldId id="269" r:id="rId13"/>
    <p:sldId id="270" r:id="rId14"/>
    <p:sldId id="265" r:id="rId15"/>
    <p:sldId id="261"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5165" autoAdjust="0"/>
  </p:normalViewPr>
  <p:slideViewPr>
    <p:cSldViewPr snapToGrid="0">
      <p:cViewPr varScale="1">
        <p:scale>
          <a:sx n="80" d="100"/>
          <a:sy n="80" d="100"/>
        </p:scale>
        <p:origin x="533" y="6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568DF4-4487-4E27-90E9-13A9586C0332}" type="datetimeFigureOut">
              <a:rPr lang="en-US" smtClean="0"/>
              <a:t>6/14/2026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12A0C8-94C6-4A56-9F76-005A339CDB21}" type="slidenum">
              <a:rPr lang="en-US" smtClean="0"/>
              <a:t>‹#›</a:t>
            </a:fld>
            <a:endParaRPr lang="en-US" dirty="0"/>
          </a:p>
        </p:txBody>
      </p:sp>
    </p:spTree>
    <p:extLst>
      <p:ext uri="{BB962C8B-B14F-4D97-AF65-F5344CB8AC3E}">
        <p14:creationId xmlns:p14="http://schemas.microsoft.com/office/powerpoint/2010/main" val="271946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12A0C8-94C6-4A56-9F76-005A339CDB21}" type="slidenum">
              <a:rPr lang="en-US" smtClean="0"/>
              <a:t>12</a:t>
            </a:fld>
            <a:endParaRPr lang="en-US" dirty="0"/>
          </a:p>
        </p:txBody>
      </p:sp>
    </p:spTree>
    <p:extLst>
      <p:ext uri="{BB962C8B-B14F-4D97-AF65-F5344CB8AC3E}">
        <p14:creationId xmlns:p14="http://schemas.microsoft.com/office/powerpoint/2010/main" val="2443532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E12A0C8-94C6-4A56-9F76-005A339CDB21}" type="slidenum">
              <a:rPr lang="en-US" smtClean="0"/>
              <a:t>14</a:t>
            </a:fld>
            <a:endParaRPr lang="en-US" dirty="0"/>
          </a:p>
        </p:txBody>
      </p:sp>
    </p:spTree>
    <p:extLst>
      <p:ext uri="{BB962C8B-B14F-4D97-AF65-F5344CB8AC3E}">
        <p14:creationId xmlns:p14="http://schemas.microsoft.com/office/powerpoint/2010/main" val="3875320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41E0-0B20-4656-8C2E-C23F65724B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FAD3F8-DF4B-43D9-9D0C-D49FD815D3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D22471D-CD30-4360-99CB-34B3F1E816B0}"/>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5" name="Footer Placeholder 4">
            <a:extLst>
              <a:ext uri="{FF2B5EF4-FFF2-40B4-BE49-F238E27FC236}">
                <a16:creationId xmlns:a16="http://schemas.microsoft.com/office/drawing/2014/main" id="{F7A2FCB0-FFEB-4979-8530-BE1F9E9DE9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85600BB-FF88-4869-B309-A3A976DB9022}"/>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1063639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51646-BC5D-4CFF-B977-B63902C0BC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1575C0-EBF5-40B6-BD40-952D360CF0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CF76F-921A-4248-9206-73AD581D8D66}"/>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5" name="Footer Placeholder 4">
            <a:extLst>
              <a:ext uri="{FF2B5EF4-FFF2-40B4-BE49-F238E27FC236}">
                <a16:creationId xmlns:a16="http://schemas.microsoft.com/office/drawing/2014/main" id="{D02ED301-5951-46FD-BC55-F5F39647C64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DF5F2A6-E065-4180-9556-18B4FED261FD}"/>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604094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B15FC-14DB-4718-83CB-1A7FEE434D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12B6A7B-A3E0-473C-A0F1-96F91FA7522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572F6E-D32E-4C7E-B76B-E3024AF15BAE}"/>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5" name="Footer Placeholder 4">
            <a:extLst>
              <a:ext uri="{FF2B5EF4-FFF2-40B4-BE49-F238E27FC236}">
                <a16:creationId xmlns:a16="http://schemas.microsoft.com/office/drawing/2014/main" id="{CB6C0600-3BCF-497B-9DE1-A8AB38B3060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FCE864D-04C9-4A36-937C-8FD76E1A27C2}"/>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1352598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860AC-9CEE-4F09-9ECD-E66EAB1087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23D4CE-18CD-4E90-A6DF-79FECE9A27D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80FB81-6F3C-440E-A694-2B981C32AB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189904-1E5D-49FD-A868-A15A56CCBE3E}"/>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6" name="Footer Placeholder 5">
            <a:extLst>
              <a:ext uri="{FF2B5EF4-FFF2-40B4-BE49-F238E27FC236}">
                <a16:creationId xmlns:a16="http://schemas.microsoft.com/office/drawing/2014/main" id="{B536FBCB-5374-4D95-90B4-121B9796D4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D46F3CF-F21A-4C51-AB54-5BE9249C69C6}"/>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3339861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F3720-BBEE-4153-88B0-48C3503DB9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DABBCB-D665-409A-A7C6-5FC10082BC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D196F8-DB7B-4A74-8453-8B72BA759F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4E23032-5B5A-4423-A707-B92A5E2A98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978F4F-E8A9-416D-82AD-130BFC1E5D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02BE8A-AC4D-4DF2-80C4-CDD73FAC9454}"/>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8" name="Footer Placeholder 7">
            <a:extLst>
              <a:ext uri="{FF2B5EF4-FFF2-40B4-BE49-F238E27FC236}">
                <a16:creationId xmlns:a16="http://schemas.microsoft.com/office/drawing/2014/main" id="{DCE7AD4C-D4A6-4FD7-8717-4404832AF379}"/>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B9AA50B4-1234-4620-BF78-F2E4BE73143D}"/>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2881645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EBA7C-AE4C-4CEC-A8F8-D09C0035ADD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2DE4675-11E6-4897-939A-8E19684EB5CE}"/>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4" name="Footer Placeholder 3">
            <a:extLst>
              <a:ext uri="{FF2B5EF4-FFF2-40B4-BE49-F238E27FC236}">
                <a16:creationId xmlns:a16="http://schemas.microsoft.com/office/drawing/2014/main" id="{3E566AC2-FA95-4302-889E-4B624A4D5E3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8CB6B681-C238-464C-AC09-141969E7BE88}"/>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1766872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095AC7-6312-4A08-B3B5-76279AB64AB9}"/>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3" name="Footer Placeholder 2">
            <a:extLst>
              <a:ext uri="{FF2B5EF4-FFF2-40B4-BE49-F238E27FC236}">
                <a16:creationId xmlns:a16="http://schemas.microsoft.com/office/drawing/2014/main" id="{E611C1F5-C99C-4C6A-8C44-6A7017AE0A6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9C5BDEB-BD1D-4308-A00B-B02D88CA3157}"/>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1005950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05BBF-58D3-4998-BA3C-1B9170DF48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406B2B-19B3-422B-B761-5C924790DE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CDF47D-2166-420E-9AC0-B8C740F1B7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7BD03B-884B-40B1-B979-0ACB6C3B2ACD}"/>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6" name="Footer Placeholder 5">
            <a:extLst>
              <a:ext uri="{FF2B5EF4-FFF2-40B4-BE49-F238E27FC236}">
                <a16:creationId xmlns:a16="http://schemas.microsoft.com/office/drawing/2014/main" id="{6E02E089-AF8B-4437-BCFE-7130DDAFA2F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44F1150-B744-4A0B-BDFD-D2987359E6B7}"/>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519566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862E7-08C9-4ECB-84D5-C1DFA148E5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E6ECD3-5DA2-4169-ADC6-8945C48FF0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CB671357-101F-4012-BEA6-308777389A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DC890C-6D82-4C16-A0E8-AF4F4AD5D8C1}"/>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6" name="Footer Placeholder 5">
            <a:extLst>
              <a:ext uri="{FF2B5EF4-FFF2-40B4-BE49-F238E27FC236}">
                <a16:creationId xmlns:a16="http://schemas.microsoft.com/office/drawing/2014/main" id="{722F1836-24CB-4EB6-9491-B805CD065A6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A1CC65D-04FD-43FB-A0E6-C910D69DD978}"/>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4145917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AF3A9-DC83-4BC6-94DE-5186119570A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AA8EF7-55C1-4FF2-8990-A969491222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00EC7-126E-42F8-AE70-ACB0155C8FF6}"/>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5" name="Footer Placeholder 4">
            <a:extLst>
              <a:ext uri="{FF2B5EF4-FFF2-40B4-BE49-F238E27FC236}">
                <a16:creationId xmlns:a16="http://schemas.microsoft.com/office/drawing/2014/main" id="{D9B366FA-105E-41AC-BC71-532C41A8061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46DF7-C319-49A8-849A-8444357C44C9}"/>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9909897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4490E3-1573-4DC4-8210-BEAC76145D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7738A8-E29C-403E-8899-1CA0BB9BE8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4354CF-C318-4D09-971A-B69DD387407F}"/>
              </a:ext>
            </a:extLst>
          </p:cNvPr>
          <p:cNvSpPr>
            <a:spLocks noGrp="1"/>
          </p:cNvSpPr>
          <p:nvPr>
            <p:ph type="dt" sz="half" idx="10"/>
          </p:nvPr>
        </p:nvSpPr>
        <p:spPr/>
        <p:txBody>
          <a:bodyPr/>
          <a:lstStyle/>
          <a:p>
            <a:fld id="{10911EE1-7CDB-4457-BA2A-8D7724E2994D}" type="datetimeFigureOut">
              <a:rPr lang="en-US" smtClean="0"/>
              <a:t>6/14/2026</a:t>
            </a:fld>
            <a:endParaRPr lang="en-US" dirty="0"/>
          </a:p>
        </p:txBody>
      </p:sp>
      <p:sp>
        <p:nvSpPr>
          <p:cNvPr id="5" name="Footer Placeholder 4">
            <a:extLst>
              <a:ext uri="{FF2B5EF4-FFF2-40B4-BE49-F238E27FC236}">
                <a16:creationId xmlns:a16="http://schemas.microsoft.com/office/drawing/2014/main" id="{C47A3DD8-2F95-44F7-B384-3D049B48362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4423C89-1240-4A13-8CD5-0DDB160AE04B}"/>
              </a:ext>
            </a:extLst>
          </p:cNvPr>
          <p:cNvSpPr>
            <a:spLocks noGrp="1"/>
          </p:cNvSpPr>
          <p:nvPr>
            <p:ph type="sldNum" sz="quarter" idx="12"/>
          </p:nvPr>
        </p:nvSpPr>
        <p:spPr/>
        <p:txBody>
          <a:bodyPr/>
          <a:lstStyle/>
          <a:p>
            <a:fld id="{6F86F0BF-3EED-47BE-92F9-DA3935ED36C2}" type="slidenum">
              <a:rPr lang="en-US" smtClean="0"/>
              <a:t>‹#›</a:t>
            </a:fld>
            <a:endParaRPr lang="en-US" dirty="0"/>
          </a:p>
        </p:txBody>
      </p:sp>
    </p:spTree>
    <p:extLst>
      <p:ext uri="{BB962C8B-B14F-4D97-AF65-F5344CB8AC3E}">
        <p14:creationId xmlns:p14="http://schemas.microsoft.com/office/powerpoint/2010/main" val="719269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897740-0D2D-4FBB-AB76-F2E6A5B17FB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EF53E93-751F-4C7F-A59B-8D9166AA25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8BEE3B-1C6B-43DC-975A-E304A5F597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911EE1-7CDB-4457-BA2A-8D7724E2994D}" type="datetimeFigureOut">
              <a:rPr lang="en-US" smtClean="0"/>
              <a:t>6/14/2026</a:t>
            </a:fld>
            <a:endParaRPr lang="en-US" dirty="0"/>
          </a:p>
        </p:txBody>
      </p:sp>
      <p:sp>
        <p:nvSpPr>
          <p:cNvPr id="5" name="Footer Placeholder 4">
            <a:extLst>
              <a:ext uri="{FF2B5EF4-FFF2-40B4-BE49-F238E27FC236}">
                <a16:creationId xmlns:a16="http://schemas.microsoft.com/office/drawing/2014/main" id="{4BAEFAA0-5C87-46C1-805C-C9EA78D7A0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84F0F2B-AD84-46C7-9598-529417E9E0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86F0BF-3EED-47BE-92F9-DA3935ED36C2}" type="slidenum">
              <a:rPr lang="en-US" smtClean="0"/>
              <a:t>‹#›</a:t>
            </a:fld>
            <a:endParaRPr lang="en-US" dirty="0"/>
          </a:p>
        </p:txBody>
      </p:sp>
    </p:spTree>
    <p:extLst>
      <p:ext uri="{BB962C8B-B14F-4D97-AF65-F5344CB8AC3E}">
        <p14:creationId xmlns:p14="http://schemas.microsoft.com/office/powerpoint/2010/main" val="258224389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0F3CF8B-C01D-4A35-84FE-2108913358A1}"/>
              </a:ext>
            </a:extLst>
          </p:cNvPr>
          <p:cNvSpPr txBox="1"/>
          <p:nvPr/>
        </p:nvSpPr>
        <p:spPr>
          <a:xfrm>
            <a:off x="8601075" y="5783818"/>
            <a:ext cx="2814637"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12-June-2026</a:t>
            </a:r>
          </a:p>
        </p:txBody>
      </p:sp>
      <p:sp>
        <p:nvSpPr>
          <p:cNvPr id="8" name="TextBox 7">
            <a:extLst>
              <a:ext uri="{FF2B5EF4-FFF2-40B4-BE49-F238E27FC236}">
                <a16:creationId xmlns:a16="http://schemas.microsoft.com/office/drawing/2014/main" id="{855E5595-E7B4-4C2B-80B8-FB7882830F5D}"/>
              </a:ext>
            </a:extLst>
          </p:cNvPr>
          <p:cNvSpPr txBox="1"/>
          <p:nvPr/>
        </p:nvSpPr>
        <p:spPr>
          <a:xfrm>
            <a:off x="971550" y="965772"/>
            <a:ext cx="9382125"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	MIRIAM NTHENYA MWONGELA</a:t>
            </a:r>
          </a:p>
        </p:txBody>
      </p:sp>
      <p:sp>
        <p:nvSpPr>
          <p:cNvPr id="9" name="TextBox 8">
            <a:extLst>
              <a:ext uri="{FF2B5EF4-FFF2-40B4-BE49-F238E27FC236}">
                <a16:creationId xmlns:a16="http://schemas.microsoft.com/office/drawing/2014/main" id="{814EF704-FE13-4D84-B865-659C164747AB}"/>
              </a:ext>
            </a:extLst>
          </p:cNvPr>
          <p:cNvSpPr txBox="1"/>
          <p:nvPr/>
        </p:nvSpPr>
        <p:spPr>
          <a:xfrm>
            <a:off x="1862139" y="3659831"/>
            <a:ext cx="2009775"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Project Name:</a:t>
            </a:r>
          </a:p>
        </p:txBody>
      </p:sp>
      <p:sp>
        <p:nvSpPr>
          <p:cNvPr id="10" name="TextBox 9">
            <a:extLst>
              <a:ext uri="{FF2B5EF4-FFF2-40B4-BE49-F238E27FC236}">
                <a16:creationId xmlns:a16="http://schemas.microsoft.com/office/drawing/2014/main" id="{348D8053-C60D-46F3-96BC-8736E0C46501}"/>
              </a:ext>
            </a:extLst>
          </p:cNvPr>
          <p:cNvSpPr txBox="1"/>
          <p:nvPr/>
        </p:nvSpPr>
        <p:spPr>
          <a:xfrm>
            <a:off x="3667125" y="3190129"/>
            <a:ext cx="6024561" cy="1077218"/>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GLOBAL FOOD PRICE ANALYSIS</a:t>
            </a:r>
          </a:p>
        </p:txBody>
      </p:sp>
    </p:spTree>
    <p:extLst>
      <p:ext uri="{BB962C8B-B14F-4D97-AF65-F5344CB8AC3E}">
        <p14:creationId xmlns:p14="http://schemas.microsoft.com/office/powerpoint/2010/main" val="2783530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0134E1-4D94-4FC5-A296-A2F482D9A885}"/>
              </a:ext>
            </a:extLst>
          </p:cNvPr>
          <p:cNvSpPr txBox="1"/>
          <p:nvPr/>
        </p:nvSpPr>
        <p:spPr>
          <a:xfrm>
            <a:off x="4236384" y="116340"/>
            <a:ext cx="4031316" cy="742511"/>
          </a:xfrm>
          <a:prstGeom prst="rect">
            <a:avLst/>
          </a:prstGeom>
          <a:solidFill>
            <a:schemeClr val="accent2">
              <a:lumMod val="40000"/>
              <a:lumOff val="60000"/>
            </a:schemeClr>
          </a:solidFill>
          <a:ln w="28575">
            <a:solidFill>
              <a:schemeClr val="tx1"/>
            </a:solidFill>
          </a:ln>
          <a:effectLst>
            <a:outerShdw blurRad="50800" dist="38100" dir="13500000" algn="br" rotWithShape="0">
              <a:prstClr val="black">
                <a:alpha val="40000"/>
              </a:prstClr>
            </a:outerShdw>
          </a:effectLst>
        </p:spPr>
        <p:txBody>
          <a:bodyPr wrap="square" rtlCol="0">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Executive Summary</a:t>
            </a:r>
          </a:p>
        </p:txBody>
      </p:sp>
      <p:sp>
        <p:nvSpPr>
          <p:cNvPr id="3" name="TextBox 2">
            <a:extLst>
              <a:ext uri="{FF2B5EF4-FFF2-40B4-BE49-F238E27FC236}">
                <a16:creationId xmlns:a16="http://schemas.microsoft.com/office/drawing/2014/main" id="{B6E61D90-3A39-4A4D-B2FB-D03BA5ACEC81}"/>
              </a:ext>
            </a:extLst>
          </p:cNvPr>
          <p:cNvSpPr txBox="1"/>
          <p:nvPr/>
        </p:nvSpPr>
        <p:spPr>
          <a:xfrm>
            <a:off x="230841" y="992269"/>
            <a:ext cx="11730318" cy="2268826"/>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The Global Food Price Analysis project runs from 2010 to 2017. It covers 55 countries with exchange rate data. All food prices are converted into US dollars. Data comes from Kaggle and the World Bank. Excel and Power BI are used to clean and visualize the dataset. The dataset holds more than 740,000 rows. A star schema is applied with fact and dimension tables. Dashboards are built for markets, commodities, volatility, and FX trends. The project serves governments, international organizations, analysts, and supply chain firms. One challenge is aligning monthly food prices with yearly exchange rate data. Another challenge is formula errors. Recommendations include adding newer data, monthly FX rates, and predictive analytics.</a:t>
            </a:r>
          </a:p>
        </p:txBody>
      </p:sp>
      <p:sp>
        <p:nvSpPr>
          <p:cNvPr id="4" name="TextBox 3">
            <a:extLst>
              <a:ext uri="{FF2B5EF4-FFF2-40B4-BE49-F238E27FC236}">
                <a16:creationId xmlns:a16="http://schemas.microsoft.com/office/drawing/2014/main" id="{7B253EB9-64CE-49B8-8863-FA5E59944B70}"/>
              </a:ext>
            </a:extLst>
          </p:cNvPr>
          <p:cNvSpPr txBox="1"/>
          <p:nvPr/>
        </p:nvSpPr>
        <p:spPr>
          <a:xfrm>
            <a:off x="5068701" y="3601650"/>
            <a:ext cx="2366682" cy="742511"/>
          </a:xfrm>
          <a:prstGeom prst="rect">
            <a:avLst/>
          </a:prstGeom>
          <a:solidFill>
            <a:schemeClr val="accent2">
              <a:lumMod val="40000"/>
              <a:lumOff val="60000"/>
            </a:schemeClr>
          </a:solidFill>
          <a:ln w="28575">
            <a:solidFill>
              <a:schemeClr val="tx1"/>
            </a:solidFill>
          </a:ln>
          <a:effectLst>
            <a:outerShdw blurRad="50800" dist="38100" dir="13500000" algn="br" rotWithShape="0">
              <a:prstClr val="black">
                <a:alpha val="40000"/>
              </a:prstClr>
            </a:outerShdw>
          </a:effectLst>
        </p:spPr>
        <p:txBody>
          <a:bodyPr wrap="square" rtlCol="0">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Background</a:t>
            </a:r>
          </a:p>
        </p:txBody>
      </p:sp>
      <p:sp>
        <p:nvSpPr>
          <p:cNvPr id="5" name="TextBox 4">
            <a:extLst>
              <a:ext uri="{FF2B5EF4-FFF2-40B4-BE49-F238E27FC236}">
                <a16:creationId xmlns:a16="http://schemas.microsoft.com/office/drawing/2014/main" id="{8952A688-0A21-416A-AA1A-049D8A55B0D1}"/>
              </a:ext>
            </a:extLst>
          </p:cNvPr>
          <p:cNvSpPr txBox="1"/>
          <p:nvPr/>
        </p:nvSpPr>
        <p:spPr>
          <a:xfrm>
            <a:off x="230841" y="4477579"/>
            <a:ext cx="11730318" cy="2264081"/>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Arial" panose="020B0604020202020204" pitchFamily="34" charset="0"/>
              <a:buChar char="•"/>
            </a:pPr>
            <a:r>
              <a:rPr lang="en-US" sz="1600" dirty="0">
                <a:solidFill>
                  <a:schemeClr val="bg1"/>
                </a:solidFill>
                <a:effectLst/>
                <a:latin typeface="Times New Roman" panose="02020603050405020304" pitchFamily="18" charset="0"/>
                <a:cs typeface="Times New Roman" panose="02020603050405020304" pitchFamily="18" charset="0"/>
              </a:rPr>
              <a:t>Food prices matter because they affect families, economies, and food security. Leaders and aid groups watch them to see trends and plan actions.</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solidFill>
                  <a:schemeClr val="bg1"/>
                </a:solidFill>
                <a:effectLst/>
                <a:latin typeface="Times New Roman" panose="02020603050405020304" pitchFamily="18" charset="0"/>
                <a:cs typeface="Times New Roman" panose="02020603050405020304" pitchFamily="18" charset="0"/>
              </a:rPr>
              <a:t>Comparing prices across countries is tricky since currencies differ and exchange rates keep changing. To solve this, the project converts all prices into US dollars, making comparisons fair and clear.</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solidFill>
                  <a:schemeClr val="bg1"/>
                </a:solidFill>
                <a:effectLst/>
                <a:latin typeface="Times New Roman" panose="02020603050405020304" pitchFamily="18" charset="0"/>
                <a:cs typeface="Times New Roman" panose="02020603050405020304" pitchFamily="18" charset="0"/>
              </a:rPr>
              <a:t>Power BI is used to clean the data and show it in charts and dashboards. This makes patterns and changes easy to see, helping people make better decisions.</a:t>
            </a:r>
            <a:endParaRPr lang="en-US" sz="16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438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102FA3F-5F92-41B2-A7E3-0937DF22695E}"/>
              </a:ext>
            </a:extLst>
          </p:cNvPr>
          <p:cNvSpPr txBox="1"/>
          <p:nvPr/>
        </p:nvSpPr>
        <p:spPr>
          <a:xfrm>
            <a:off x="3471860" y="76242"/>
            <a:ext cx="5248275" cy="661207"/>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2800" b="1" dirty="0">
                <a:solidFill>
                  <a:schemeClr val="bg1"/>
                </a:solidFill>
                <a:latin typeface="Times New Roman" panose="02020603050405020304" pitchFamily="18" charset="0"/>
                <a:cs typeface="Times New Roman" panose="02020603050405020304" pitchFamily="18" charset="0"/>
              </a:rPr>
              <a:t>Stakeholders &amp; BI Requirements</a:t>
            </a:r>
          </a:p>
        </p:txBody>
      </p:sp>
      <p:sp>
        <p:nvSpPr>
          <p:cNvPr id="9" name="TextBox 8">
            <a:extLst>
              <a:ext uri="{FF2B5EF4-FFF2-40B4-BE49-F238E27FC236}">
                <a16:creationId xmlns:a16="http://schemas.microsoft.com/office/drawing/2014/main" id="{89BD5D1E-DEF7-490A-8035-F0A5CBCDFEC1}"/>
              </a:ext>
            </a:extLst>
          </p:cNvPr>
          <p:cNvSpPr txBox="1"/>
          <p:nvPr/>
        </p:nvSpPr>
        <p:spPr>
          <a:xfrm>
            <a:off x="957435" y="899437"/>
            <a:ext cx="3565815" cy="960328"/>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Government Ministry (Agriculture / Trade / Finance)</a:t>
            </a:r>
          </a:p>
        </p:txBody>
      </p:sp>
      <p:sp>
        <p:nvSpPr>
          <p:cNvPr id="18" name="TextBox 17">
            <a:extLst>
              <a:ext uri="{FF2B5EF4-FFF2-40B4-BE49-F238E27FC236}">
                <a16:creationId xmlns:a16="http://schemas.microsoft.com/office/drawing/2014/main" id="{80BF7E5C-CDED-4E0A-A757-15996FB11AE4}"/>
              </a:ext>
            </a:extLst>
          </p:cNvPr>
          <p:cNvSpPr txBox="1"/>
          <p:nvPr/>
        </p:nvSpPr>
        <p:spPr>
          <a:xfrm>
            <a:off x="1788964" y="1982265"/>
            <a:ext cx="1902759" cy="458074"/>
          </a:xfrm>
          <a:prstGeom prst="rect">
            <a:avLst/>
          </a:prstGeom>
          <a:solidFill>
            <a:schemeClr val="accent6">
              <a:lumMod val="40000"/>
              <a:lumOff val="60000"/>
            </a:schemeClr>
          </a:solidFill>
          <a:ln w="63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lnSpc>
                <a:spcPct val="150000"/>
              </a:lnSpc>
            </a:pPr>
            <a:r>
              <a:rPr lang="en-US" sz="1800" b="1" dirty="0">
                <a:solidFill>
                  <a:schemeClr val="bg1"/>
                </a:solidFill>
                <a:latin typeface="Times New Roman" panose="02020603050405020304" pitchFamily="18" charset="0"/>
                <a:cs typeface="Times New Roman" panose="02020603050405020304" pitchFamily="18" charset="0"/>
              </a:rPr>
              <a:t>Requirements: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FF3A1D03-0155-4E74-81BC-A751DBF96105}"/>
              </a:ext>
            </a:extLst>
          </p:cNvPr>
          <p:cNvSpPr txBox="1"/>
          <p:nvPr/>
        </p:nvSpPr>
        <p:spPr>
          <a:xfrm>
            <a:off x="332479" y="2597976"/>
            <a:ext cx="4815728" cy="1525418"/>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Monitor food price changes across countries</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Identify countries with high or unstable food prices</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Track impact of exchange rates on food prices</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Support policy and pricing decisions</a:t>
            </a:r>
          </a:p>
        </p:txBody>
      </p:sp>
      <p:sp>
        <p:nvSpPr>
          <p:cNvPr id="22" name="TextBox 21">
            <a:extLst>
              <a:ext uri="{FF2B5EF4-FFF2-40B4-BE49-F238E27FC236}">
                <a16:creationId xmlns:a16="http://schemas.microsoft.com/office/drawing/2014/main" id="{17CF3F56-9CAA-49EA-A8E0-E7BC4C04FAF0}"/>
              </a:ext>
            </a:extLst>
          </p:cNvPr>
          <p:cNvSpPr txBox="1"/>
          <p:nvPr/>
        </p:nvSpPr>
        <p:spPr>
          <a:xfrm>
            <a:off x="7827812" y="913146"/>
            <a:ext cx="3241964" cy="960328"/>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International Organizations (FAO / WFP / World Bank)</a:t>
            </a:r>
          </a:p>
        </p:txBody>
      </p:sp>
      <p:sp>
        <p:nvSpPr>
          <p:cNvPr id="23" name="TextBox 22">
            <a:extLst>
              <a:ext uri="{FF2B5EF4-FFF2-40B4-BE49-F238E27FC236}">
                <a16:creationId xmlns:a16="http://schemas.microsoft.com/office/drawing/2014/main" id="{2443C805-27F0-4DAB-83F1-C9D77A798F35}"/>
              </a:ext>
            </a:extLst>
          </p:cNvPr>
          <p:cNvSpPr txBox="1"/>
          <p:nvPr/>
        </p:nvSpPr>
        <p:spPr>
          <a:xfrm>
            <a:off x="8497417" y="1977004"/>
            <a:ext cx="1902759" cy="458074"/>
          </a:xfrm>
          <a:prstGeom prst="rect">
            <a:avLst/>
          </a:prstGeom>
          <a:solidFill>
            <a:schemeClr val="accent6">
              <a:lumMod val="40000"/>
              <a:lumOff val="60000"/>
            </a:schemeClr>
          </a:solidFill>
          <a:ln w="63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lnSpc>
                <a:spcPct val="150000"/>
              </a:lnSpc>
            </a:pPr>
            <a:r>
              <a:rPr lang="en-US" sz="1800" b="1" dirty="0">
                <a:solidFill>
                  <a:schemeClr val="bg1"/>
                </a:solidFill>
                <a:latin typeface="Times New Roman" panose="02020603050405020304" pitchFamily="18" charset="0"/>
                <a:cs typeface="Times New Roman" panose="02020603050405020304" pitchFamily="18" charset="0"/>
              </a:rPr>
              <a:t>Requirements: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7C549CFD-AD51-4696-A680-B594E5297EDE}"/>
              </a:ext>
            </a:extLst>
          </p:cNvPr>
          <p:cNvSpPr txBox="1"/>
          <p:nvPr/>
        </p:nvSpPr>
        <p:spPr>
          <a:xfrm>
            <a:off x="6749323" y="2598177"/>
            <a:ext cx="5398943" cy="1525418"/>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Detect food insecurity risk through price levels and volatility</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Identify regions with unstable or high-cost food markets</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Support global food aid and intervention planning</a:t>
            </a:r>
          </a:p>
        </p:txBody>
      </p:sp>
      <p:sp>
        <p:nvSpPr>
          <p:cNvPr id="25" name="TextBox 24">
            <a:extLst>
              <a:ext uri="{FF2B5EF4-FFF2-40B4-BE49-F238E27FC236}">
                <a16:creationId xmlns:a16="http://schemas.microsoft.com/office/drawing/2014/main" id="{C9F3BC04-7FB8-4DB1-9C4C-0A18695A1025}"/>
              </a:ext>
            </a:extLst>
          </p:cNvPr>
          <p:cNvSpPr txBox="1"/>
          <p:nvPr/>
        </p:nvSpPr>
        <p:spPr>
          <a:xfrm>
            <a:off x="1606260" y="4309649"/>
            <a:ext cx="2268164"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Market Analysts</a:t>
            </a:r>
          </a:p>
        </p:txBody>
      </p:sp>
      <p:sp>
        <p:nvSpPr>
          <p:cNvPr id="26" name="TextBox 25">
            <a:extLst>
              <a:ext uri="{FF2B5EF4-FFF2-40B4-BE49-F238E27FC236}">
                <a16:creationId xmlns:a16="http://schemas.microsoft.com/office/drawing/2014/main" id="{4FBF7CE2-3A34-4EBE-A255-7BA6AF3AB25C}"/>
              </a:ext>
            </a:extLst>
          </p:cNvPr>
          <p:cNvSpPr txBox="1"/>
          <p:nvPr/>
        </p:nvSpPr>
        <p:spPr>
          <a:xfrm>
            <a:off x="1788964" y="4912657"/>
            <a:ext cx="1902759" cy="458074"/>
          </a:xfrm>
          <a:prstGeom prst="rect">
            <a:avLst/>
          </a:prstGeom>
          <a:solidFill>
            <a:schemeClr val="accent6">
              <a:lumMod val="40000"/>
              <a:lumOff val="60000"/>
            </a:schemeClr>
          </a:solidFill>
          <a:ln w="63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lnSpc>
                <a:spcPct val="150000"/>
              </a:lnSpc>
            </a:pPr>
            <a:r>
              <a:rPr lang="en-US" sz="1800" b="1" dirty="0">
                <a:solidFill>
                  <a:schemeClr val="bg1"/>
                </a:solidFill>
                <a:latin typeface="Times New Roman" panose="02020603050405020304" pitchFamily="18" charset="0"/>
                <a:cs typeface="Times New Roman" panose="02020603050405020304" pitchFamily="18" charset="0"/>
              </a:rPr>
              <a:t>Requirements: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68A41C64-7E8B-4227-806D-E934EE5874FD}"/>
              </a:ext>
            </a:extLst>
          </p:cNvPr>
          <p:cNvSpPr txBox="1"/>
          <p:nvPr/>
        </p:nvSpPr>
        <p:spPr>
          <a:xfrm>
            <a:off x="332480" y="5493231"/>
            <a:ext cx="4815728" cy="1156086"/>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Analyze commodity price behavior across markets</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Identify trends, volatility, and price patterns</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Compare pricing across countries and time</a:t>
            </a:r>
          </a:p>
        </p:txBody>
      </p:sp>
      <p:sp>
        <p:nvSpPr>
          <p:cNvPr id="28" name="TextBox 27">
            <a:extLst>
              <a:ext uri="{FF2B5EF4-FFF2-40B4-BE49-F238E27FC236}">
                <a16:creationId xmlns:a16="http://schemas.microsoft.com/office/drawing/2014/main" id="{99F5CAFB-6E66-486B-96C5-1FB399716946}"/>
              </a:ext>
            </a:extLst>
          </p:cNvPr>
          <p:cNvSpPr txBox="1"/>
          <p:nvPr/>
        </p:nvSpPr>
        <p:spPr>
          <a:xfrm>
            <a:off x="8085878" y="4309649"/>
            <a:ext cx="2725831"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Supply Chain Firms</a:t>
            </a:r>
          </a:p>
        </p:txBody>
      </p:sp>
      <p:sp>
        <p:nvSpPr>
          <p:cNvPr id="29" name="TextBox 28">
            <a:extLst>
              <a:ext uri="{FF2B5EF4-FFF2-40B4-BE49-F238E27FC236}">
                <a16:creationId xmlns:a16="http://schemas.microsoft.com/office/drawing/2014/main" id="{EAE15778-C02A-4123-91D3-037F1E0E98E9}"/>
              </a:ext>
            </a:extLst>
          </p:cNvPr>
          <p:cNvSpPr txBox="1"/>
          <p:nvPr/>
        </p:nvSpPr>
        <p:spPr>
          <a:xfrm>
            <a:off x="8497417" y="4912657"/>
            <a:ext cx="1902759" cy="458074"/>
          </a:xfrm>
          <a:prstGeom prst="rect">
            <a:avLst/>
          </a:prstGeom>
          <a:solidFill>
            <a:schemeClr val="accent6">
              <a:lumMod val="40000"/>
              <a:lumOff val="60000"/>
            </a:schemeClr>
          </a:solidFill>
          <a:ln w="63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lnSpc>
                <a:spcPct val="150000"/>
              </a:lnSpc>
            </a:pPr>
            <a:r>
              <a:rPr lang="en-US" sz="1800" b="1" dirty="0">
                <a:solidFill>
                  <a:schemeClr val="bg1"/>
                </a:solidFill>
                <a:latin typeface="Times New Roman" panose="02020603050405020304" pitchFamily="18" charset="0"/>
                <a:cs typeface="Times New Roman" panose="02020603050405020304" pitchFamily="18" charset="0"/>
              </a:rPr>
              <a:t>Requirements:</a:t>
            </a:r>
            <a:endParaRPr lang="en-US" sz="1800" dirty="0">
              <a:solidFill>
                <a:schemeClr val="bg1"/>
              </a:solidFill>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D73062BB-7D98-4F05-AA06-6013E5379781}"/>
              </a:ext>
            </a:extLst>
          </p:cNvPr>
          <p:cNvSpPr txBox="1"/>
          <p:nvPr/>
        </p:nvSpPr>
        <p:spPr>
          <a:xfrm>
            <a:off x="7040933" y="5474761"/>
            <a:ext cx="4815728" cy="1162113"/>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Identify price trends for planning procurement</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Understand commodity stability for risk reduction</a:t>
            </a:r>
          </a:p>
          <a:p>
            <a:pPr marL="285750" indent="-285750">
              <a:lnSpc>
                <a:spcPct val="150000"/>
              </a:lnSpc>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Compare markets for sourcing decisions</a:t>
            </a:r>
          </a:p>
        </p:txBody>
      </p:sp>
    </p:spTree>
    <p:extLst>
      <p:ext uri="{BB962C8B-B14F-4D97-AF65-F5344CB8AC3E}">
        <p14:creationId xmlns:p14="http://schemas.microsoft.com/office/powerpoint/2010/main" val="3181513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11E987F-FFA3-49B4-9041-E2A1F8EEB3CA}"/>
              </a:ext>
            </a:extLst>
          </p:cNvPr>
          <p:cNvSpPr txBox="1"/>
          <p:nvPr/>
        </p:nvSpPr>
        <p:spPr>
          <a:xfrm>
            <a:off x="407293" y="991916"/>
            <a:ext cx="11377405" cy="3741409"/>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342900" indent="-342900">
              <a:lnSpc>
                <a:spcPct val="150000"/>
              </a:lnSpc>
              <a:buFont typeface="+mj-lt"/>
              <a:buAutoNum type="arabicPeriod"/>
            </a:pPr>
            <a:r>
              <a:rPr lang="en-US" sz="1600" dirty="0">
                <a:solidFill>
                  <a:schemeClr val="bg1"/>
                </a:solidFill>
                <a:latin typeface="Times New Roman" panose="02020603050405020304" pitchFamily="18" charset="0"/>
                <a:cs typeface="Times New Roman" panose="02020603050405020304" pitchFamily="18" charset="0"/>
              </a:rPr>
              <a:t>What is the overall structure of the dataset in terms of countries, markets, commodities, and average food prices (USD)? </a:t>
            </a:r>
          </a:p>
          <a:p>
            <a:pPr marL="342900" indent="-342900">
              <a:lnSpc>
                <a:spcPct val="150000"/>
              </a:lnSpc>
              <a:buFont typeface="+mj-lt"/>
              <a:buAutoNum type="arabicPeriod"/>
            </a:pPr>
            <a:r>
              <a:rPr lang="en-US" sz="1600" dirty="0">
                <a:solidFill>
                  <a:schemeClr val="bg1"/>
                </a:solidFill>
                <a:latin typeface="Times New Roman" panose="02020603050405020304" pitchFamily="18" charset="0"/>
                <a:cs typeface="Times New Roman" panose="02020603050405020304" pitchFamily="18" charset="0"/>
              </a:rPr>
              <a:t>How do food prices vary across countries and continents? </a:t>
            </a:r>
          </a:p>
          <a:p>
            <a:pPr marL="342900" indent="-342900">
              <a:lnSpc>
                <a:spcPct val="150000"/>
              </a:lnSpc>
              <a:buFont typeface="+mj-lt"/>
              <a:buAutoNum type="arabicPeriod"/>
            </a:pPr>
            <a:r>
              <a:rPr lang="en-US" sz="1600" dirty="0">
                <a:solidFill>
                  <a:schemeClr val="bg1"/>
                </a:solidFill>
                <a:latin typeface="Times New Roman" panose="02020603050405020304" pitchFamily="18" charset="0"/>
                <a:cs typeface="Times New Roman" panose="02020603050405020304" pitchFamily="18" charset="0"/>
              </a:rPr>
              <a:t>Which countries have the highest average food prices? </a:t>
            </a:r>
          </a:p>
          <a:p>
            <a:pPr marL="342900" indent="-342900">
              <a:lnSpc>
                <a:spcPct val="150000"/>
              </a:lnSpc>
              <a:buFont typeface="+mj-lt"/>
              <a:buAutoNum type="arabicPeriod"/>
            </a:pPr>
            <a:r>
              <a:rPr lang="en-US" sz="1600" dirty="0">
                <a:solidFill>
                  <a:schemeClr val="bg1"/>
                </a:solidFill>
                <a:latin typeface="Times New Roman" panose="02020603050405020304" pitchFamily="18" charset="0"/>
                <a:cs typeface="Times New Roman" panose="02020603050405020304" pitchFamily="18" charset="0"/>
              </a:rPr>
              <a:t>How are commodities distributed in the dataset? </a:t>
            </a:r>
          </a:p>
          <a:p>
            <a:pPr marL="342900" indent="-342900">
              <a:lnSpc>
                <a:spcPct val="150000"/>
              </a:lnSpc>
              <a:buFont typeface="+mj-lt"/>
              <a:buAutoNum type="arabicPeriod"/>
            </a:pPr>
            <a:r>
              <a:rPr lang="en-US" sz="1600" dirty="0">
                <a:solidFill>
                  <a:schemeClr val="bg1"/>
                </a:solidFill>
                <a:latin typeface="Times New Roman" panose="02020603050405020304" pitchFamily="18" charset="0"/>
                <a:cs typeface="Times New Roman" panose="02020603050405020304" pitchFamily="18" charset="0"/>
              </a:rPr>
              <a:t>How do food prices change over time (2010–2017)? </a:t>
            </a:r>
          </a:p>
          <a:p>
            <a:pPr marL="342900" indent="-342900">
              <a:lnSpc>
                <a:spcPct val="150000"/>
              </a:lnSpc>
              <a:buFont typeface="+mj-lt"/>
              <a:buAutoNum type="arabicPeriod"/>
            </a:pPr>
            <a:r>
              <a:rPr lang="en-US" sz="1600" dirty="0">
                <a:solidFill>
                  <a:schemeClr val="bg1"/>
                </a:solidFill>
                <a:latin typeface="Times New Roman" panose="02020603050405020304" pitchFamily="18" charset="0"/>
                <a:cs typeface="Times New Roman" panose="02020603050405020304" pitchFamily="18" charset="0"/>
              </a:rPr>
              <a:t>What is the relationship between exchange rates (FX) and food prices?</a:t>
            </a:r>
          </a:p>
          <a:p>
            <a:pPr marL="342900" indent="-342900">
              <a:lnSpc>
                <a:spcPct val="150000"/>
              </a:lnSpc>
              <a:buFont typeface="+mj-lt"/>
              <a:buAutoNum type="arabicPeriod"/>
            </a:pPr>
            <a:r>
              <a:rPr lang="en-US" sz="1600" dirty="0">
                <a:solidFill>
                  <a:schemeClr val="bg1"/>
                </a:solidFill>
                <a:latin typeface="Times New Roman" panose="02020603050405020304" pitchFamily="18" charset="0"/>
                <a:cs typeface="Times New Roman" panose="02020603050405020304" pitchFamily="18" charset="0"/>
              </a:rPr>
              <a:t>Which commodities show the highest price increases or decreases over time?</a:t>
            </a:r>
          </a:p>
          <a:p>
            <a:pPr marL="342900" indent="-342900">
              <a:lnSpc>
                <a:spcPct val="150000"/>
              </a:lnSpc>
              <a:buFont typeface="+mj-lt"/>
              <a:buAutoNum type="arabicPeriod" startAt="8"/>
            </a:pPr>
            <a:r>
              <a:rPr lang="en-US" sz="1600" dirty="0">
                <a:solidFill>
                  <a:schemeClr val="bg1"/>
                </a:solidFill>
                <a:latin typeface="Times New Roman" panose="02020603050405020304" pitchFamily="18" charset="0"/>
                <a:cs typeface="Times New Roman" panose="02020603050405020304" pitchFamily="18" charset="0"/>
              </a:rPr>
              <a:t>Which commodities are the most and least volatile?</a:t>
            </a:r>
          </a:p>
          <a:p>
            <a:pPr marL="342900" indent="-342900">
              <a:lnSpc>
                <a:spcPct val="150000"/>
              </a:lnSpc>
              <a:buFont typeface="+mj-lt"/>
              <a:buAutoNum type="arabicPeriod" startAt="8"/>
            </a:pPr>
            <a:r>
              <a:rPr lang="en-US" sz="1600" dirty="0">
                <a:solidFill>
                  <a:schemeClr val="bg1"/>
                </a:solidFill>
                <a:latin typeface="Times New Roman" panose="02020603050405020304" pitchFamily="18" charset="0"/>
                <a:cs typeface="Times New Roman" panose="02020603050405020304" pitchFamily="18" charset="0"/>
              </a:rPr>
              <a:t>What is the relationship between commodity price level and price volatility?</a:t>
            </a:r>
          </a:p>
          <a:p>
            <a:pPr marL="342900" indent="-342900">
              <a:lnSpc>
                <a:spcPct val="150000"/>
              </a:lnSpc>
              <a:buFont typeface="+mj-lt"/>
              <a:buAutoNum type="arabicPeriod" startAt="8"/>
            </a:pPr>
            <a:r>
              <a:rPr lang="en-US" sz="1600" dirty="0">
                <a:solidFill>
                  <a:schemeClr val="bg1"/>
                </a:solidFill>
                <a:latin typeface="Times New Roman" panose="02020603050405020304" pitchFamily="18" charset="0"/>
                <a:cs typeface="Times New Roman" panose="02020603050405020304" pitchFamily="18" charset="0"/>
              </a:rPr>
              <a:t>Which commodities are most frequently occurring in the dataset?</a:t>
            </a:r>
          </a:p>
        </p:txBody>
      </p:sp>
      <p:sp>
        <p:nvSpPr>
          <p:cNvPr id="17" name="TextBox 16">
            <a:extLst>
              <a:ext uri="{FF2B5EF4-FFF2-40B4-BE49-F238E27FC236}">
                <a16:creationId xmlns:a16="http://schemas.microsoft.com/office/drawing/2014/main" id="{4C54E8A5-30E7-44BE-912F-853463530A8A}"/>
              </a:ext>
            </a:extLst>
          </p:cNvPr>
          <p:cNvSpPr txBox="1"/>
          <p:nvPr/>
        </p:nvSpPr>
        <p:spPr>
          <a:xfrm>
            <a:off x="4157659" y="120608"/>
            <a:ext cx="3876675" cy="742511"/>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Analytical Questions</a:t>
            </a:r>
          </a:p>
        </p:txBody>
      </p:sp>
    </p:spTree>
    <p:extLst>
      <p:ext uri="{BB962C8B-B14F-4D97-AF65-F5344CB8AC3E}">
        <p14:creationId xmlns:p14="http://schemas.microsoft.com/office/powerpoint/2010/main" val="3112514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067E56-14F3-4885-A157-0B15D26C6826}"/>
              </a:ext>
            </a:extLst>
          </p:cNvPr>
          <p:cNvSpPr txBox="1"/>
          <p:nvPr/>
        </p:nvSpPr>
        <p:spPr>
          <a:xfrm>
            <a:off x="4363640" y="108086"/>
            <a:ext cx="3464720" cy="742511"/>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Project Workflow</a:t>
            </a:r>
          </a:p>
        </p:txBody>
      </p:sp>
      <p:sp>
        <p:nvSpPr>
          <p:cNvPr id="7" name="Rectangle 6">
            <a:extLst>
              <a:ext uri="{FF2B5EF4-FFF2-40B4-BE49-F238E27FC236}">
                <a16:creationId xmlns:a16="http://schemas.microsoft.com/office/drawing/2014/main" id="{BFE5CD24-A0CE-44BA-B9B5-C9B7D4DA7964}"/>
              </a:ext>
            </a:extLst>
          </p:cNvPr>
          <p:cNvSpPr/>
          <p:nvPr/>
        </p:nvSpPr>
        <p:spPr>
          <a:xfrm>
            <a:off x="107645" y="945193"/>
            <a:ext cx="5576890" cy="3465728"/>
          </a:xfrm>
          <a:prstGeom prst="rect">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C37AA78-4C06-46D3-BEC9-D8D8A0B55913}"/>
              </a:ext>
            </a:extLst>
          </p:cNvPr>
          <p:cNvSpPr txBox="1"/>
          <p:nvPr/>
        </p:nvSpPr>
        <p:spPr>
          <a:xfrm>
            <a:off x="1849233" y="1307413"/>
            <a:ext cx="1100226" cy="504625"/>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Dataset</a:t>
            </a:r>
          </a:p>
        </p:txBody>
      </p:sp>
      <p:sp>
        <p:nvSpPr>
          <p:cNvPr id="5" name="TextBox 4">
            <a:extLst>
              <a:ext uri="{FF2B5EF4-FFF2-40B4-BE49-F238E27FC236}">
                <a16:creationId xmlns:a16="http://schemas.microsoft.com/office/drawing/2014/main" id="{952E1E21-EFF7-4D45-B48D-E35DC00CB148}"/>
              </a:ext>
            </a:extLst>
          </p:cNvPr>
          <p:cNvSpPr txBox="1"/>
          <p:nvPr/>
        </p:nvSpPr>
        <p:spPr>
          <a:xfrm>
            <a:off x="1401257" y="1107388"/>
            <a:ext cx="361950" cy="400050"/>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1</a:t>
            </a:r>
          </a:p>
        </p:txBody>
      </p:sp>
      <p:sp>
        <p:nvSpPr>
          <p:cNvPr id="6" name="TextBox 5">
            <a:extLst>
              <a:ext uri="{FF2B5EF4-FFF2-40B4-BE49-F238E27FC236}">
                <a16:creationId xmlns:a16="http://schemas.microsoft.com/office/drawing/2014/main" id="{81ACD05B-D19C-40CE-B7DF-4048C1401C94}"/>
              </a:ext>
            </a:extLst>
          </p:cNvPr>
          <p:cNvSpPr txBox="1"/>
          <p:nvPr/>
        </p:nvSpPr>
        <p:spPr>
          <a:xfrm>
            <a:off x="217777" y="1972521"/>
            <a:ext cx="5303045" cy="2264081"/>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Wingdings" panose="05000000000000000000" pitchFamily="2" charset="2"/>
              <a:buChar char="q"/>
            </a:pPr>
            <a:r>
              <a:rPr lang="en-US" sz="1600" dirty="0">
                <a:solidFill>
                  <a:schemeClr val="bg1"/>
                </a:solidFill>
                <a:latin typeface="Times New Roman" panose="02020603050405020304" pitchFamily="18" charset="0"/>
                <a:cs typeface="Times New Roman" panose="02020603050405020304" pitchFamily="18" charset="0"/>
              </a:rPr>
              <a:t>Global Food Dataset retrieved from an Excel file</a:t>
            </a:r>
          </a:p>
          <a:p>
            <a:pPr marL="285750" indent="-285750">
              <a:lnSpc>
                <a:spcPct val="150000"/>
              </a:lnSpc>
              <a:buFont typeface="Wingdings" panose="05000000000000000000" pitchFamily="2" charset="2"/>
              <a:buChar char="q"/>
            </a:pPr>
            <a:r>
              <a:rPr lang="en-US" sz="1600" dirty="0">
                <a:solidFill>
                  <a:schemeClr val="bg1"/>
                </a:solidFill>
                <a:latin typeface="Times New Roman" panose="02020603050405020304" pitchFamily="18" charset="0"/>
                <a:cs typeface="Times New Roman" panose="02020603050405020304" pitchFamily="18" charset="0"/>
              </a:rPr>
              <a:t>Exchange rates (USD FX) pulled from the World Bank Api</a:t>
            </a:r>
          </a:p>
          <a:p>
            <a:pPr marL="285750" indent="-285750">
              <a:lnSpc>
                <a:spcPct val="150000"/>
              </a:lnSpc>
              <a:buFont typeface="Wingdings" panose="05000000000000000000" pitchFamily="2" charset="2"/>
              <a:buChar char="q"/>
            </a:pPr>
            <a:r>
              <a:rPr lang="en-US" sz="1600" dirty="0">
                <a:solidFill>
                  <a:schemeClr val="bg1"/>
                </a:solidFill>
                <a:latin typeface="Times New Roman" panose="02020603050405020304" pitchFamily="18" charset="0"/>
                <a:cs typeface="Times New Roman" panose="02020603050405020304" pitchFamily="18" charset="0"/>
              </a:rPr>
              <a:t>Dataset represents:</a:t>
            </a:r>
          </a:p>
          <a:p>
            <a:pPr marL="285750" indent="-285750">
              <a:lnSpc>
                <a:spcPct val="150000"/>
              </a:lnSpc>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  Commodities: Food</a:t>
            </a:r>
          </a:p>
          <a:p>
            <a:pPr marL="285750" indent="-285750">
              <a:lnSpc>
                <a:spcPct val="150000"/>
              </a:lnSpc>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Time Period: 2010 – 2017</a:t>
            </a:r>
          </a:p>
          <a:p>
            <a:pPr marL="285750" indent="-285750">
              <a:lnSpc>
                <a:spcPct val="150000"/>
              </a:lnSpc>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Countries: With available FX data for USD conversion</a:t>
            </a:r>
          </a:p>
        </p:txBody>
      </p:sp>
      <p:grpSp>
        <p:nvGrpSpPr>
          <p:cNvPr id="18" name="Group 17">
            <a:extLst>
              <a:ext uri="{FF2B5EF4-FFF2-40B4-BE49-F238E27FC236}">
                <a16:creationId xmlns:a16="http://schemas.microsoft.com/office/drawing/2014/main" id="{51125046-54F9-48ED-8F7D-7E0FFD1C7656}"/>
              </a:ext>
            </a:extLst>
          </p:cNvPr>
          <p:cNvGrpSpPr/>
          <p:nvPr/>
        </p:nvGrpSpPr>
        <p:grpSpPr>
          <a:xfrm>
            <a:off x="6170309" y="945193"/>
            <a:ext cx="5914046" cy="3465728"/>
            <a:chOff x="6179834" y="2754943"/>
            <a:chExt cx="5914046" cy="3465728"/>
          </a:xfrm>
        </p:grpSpPr>
        <p:sp>
          <p:nvSpPr>
            <p:cNvPr id="8" name="Rectangle 7">
              <a:extLst>
                <a:ext uri="{FF2B5EF4-FFF2-40B4-BE49-F238E27FC236}">
                  <a16:creationId xmlns:a16="http://schemas.microsoft.com/office/drawing/2014/main" id="{D5AC9F1B-E6C2-4813-9552-27BC434D1CAB}"/>
                </a:ext>
              </a:extLst>
            </p:cNvPr>
            <p:cNvSpPr/>
            <p:nvPr/>
          </p:nvSpPr>
          <p:spPr>
            <a:xfrm>
              <a:off x="6179834" y="2754943"/>
              <a:ext cx="5914046" cy="3465728"/>
            </a:xfrm>
            <a:prstGeom prst="rect">
              <a:avLst/>
            </a:prstGeom>
            <a:solidFill>
              <a:schemeClr val="accent3">
                <a:lumMod val="20000"/>
                <a:lumOff val="80000"/>
              </a:schemeClr>
            </a:solidFill>
            <a:ln>
              <a:noFill/>
            </a:ln>
            <a:effectLst/>
            <a:scene3d>
              <a:camera prst="orthographicFront">
                <a:rot lat="0" lon="0" rev="0"/>
              </a:camera>
              <a:lightRig rig="contrasting" dir="t">
                <a:rot lat="0" lon="0" rev="7800000"/>
              </a:lightRig>
            </a:scene3d>
            <a:sp3d>
              <a:bevelT w="139700" h="1397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7FA42F86-D78E-445B-A78A-C03679C67826}"/>
                </a:ext>
              </a:extLst>
            </p:cNvPr>
            <p:cNvSpPr txBox="1"/>
            <p:nvPr/>
          </p:nvSpPr>
          <p:spPr>
            <a:xfrm>
              <a:off x="7009700" y="2994741"/>
              <a:ext cx="4982976"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Data Collection &amp; Preprocessing (ETL)</a:t>
              </a:r>
            </a:p>
          </p:txBody>
        </p:sp>
        <p:sp>
          <p:nvSpPr>
            <p:cNvPr id="10" name="TextBox 9">
              <a:extLst>
                <a:ext uri="{FF2B5EF4-FFF2-40B4-BE49-F238E27FC236}">
                  <a16:creationId xmlns:a16="http://schemas.microsoft.com/office/drawing/2014/main" id="{6B9D37F3-117C-4681-90CF-4B885511DDB8}"/>
                </a:ext>
              </a:extLst>
            </p:cNvPr>
            <p:cNvSpPr txBox="1"/>
            <p:nvPr/>
          </p:nvSpPr>
          <p:spPr>
            <a:xfrm>
              <a:off x="6546547" y="2794716"/>
              <a:ext cx="361950" cy="400050"/>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2</a:t>
              </a:r>
            </a:p>
          </p:txBody>
        </p:sp>
        <p:sp>
          <p:nvSpPr>
            <p:cNvPr id="11" name="TextBox 10">
              <a:extLst>
                <a:ext uri="{FF2B5EF4-FFF2-40B4-BE49-F238E27FC236}">
                  <a16:creationId xmlns:a16="http://schemas.microsoft.com/office/drawing/2014/main" id="{7E28562D-177E-418D-9677-D5524560F613}"/>
                </a:ext>
              </a:extLst>
            </p:cNvPr>
            <p:cNvSpPr txBox="1"/>
            <p:nvPr/>
          </p:nvSpPr>
          <p:spPr>
            <a:xfrm>
              <a:off x="6485334" y="3743322"/>
              <a:ext cx="5303045" cy="2264081"/>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Wingdings" panose="05000000000000000000" pitchFamily="2" charset="2"/>
                <a:buChar char="q"/>
              </a:pPr>
              <a:r>
                <a:rPr lang="en-US" sz="1600" dirty="0">
                  <a:solidFill>
                    <a:schemeClr val="bg1"/>
                  </a:solidFill>
                  <a:latin typeface="Times New Roman" panose="02020603050405020304" pitchFamily="18" charset="0"/>
                  <a:cs typeface="Times New Roman" panose="02020603050405020304" pitchFamily="18" charset="0"/>
                </a:rPr>
                <a:t>Data imported into Power BI (Power Query) </a:t>
              </a:r>
            </a:p>
            <a:p>
              <a:pPr marL="285750" indent="-285750">
                <a:lnSpc>
                  <a:spcPct val="150000"/>
                </a:lnSpc>
                <a:buFont typeface="Wingdings" panose="05000000000000000000" pitchFamily="2" charset="2"/>
                <a:buChar char="q"/>
              </a:pPr>
              <a:r>
                <a:rPr lang="en-US" sz="1600" dirty="0">
                  <a:solidFill>
                    <a:schemeClr val="bg1"/>
                  </a:solidFill>
                  <a:latin typeface="Times New Roman" panose="02020603050405020304" pitchFamily="18" charset="0"/>
                  <a:cs typeface="Times New Roman" panose="02020603050405020304" pitchFamily="18" charset="0"/>
                </a:rPr>
                <a:t>Cleaning and transformation performed:</a:t>
              </a:r>
            </a:p>
            <a:p>
              <a:pPr marL="285750" indent="-285750">
                <a:lnSpc>
                  <a:spcPct val="150000"/>
                </a:lnSpc>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Standardizing country names</a:t>
              </a:r>
            </a:p>
            <a:p>
              <a:pPr marL="285750" indent="-285750">
                <a:lnSpc>
                  <a:spcPct val="150000"/>
                </a:lnSpc>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Cleaning market type values</a:t>
              </a:r>
            </a:p>
            <a:p>
              <a:pPr marL="285750" indent="-285750">
                <a:lnSpc>
                  <a:spcPct val="150000"/>
                </a:lnSpc>
                <a:buFont typeface="Wingdings" panose="05000000000000000000" pitchFamily="2" charset="2"/>
                <a:buChar char="v"/>
              </a:pPr>
              <a:r>
                <a:rPr lang="en-US" sz="1600" dirty="0">
                  <a:solidFill>
                    <a:schemeClr val="bg1"/>
                  </a:solidFill>
                  <a:latin typeface="Times New Roman" panose="02020603050405020304" pitchFamily="18" charset="0"/>
                  <a:cs typeface="Times New Roman" panose="02020603050405020304" pitchFamily="18" charset="0"/>
                </a:rPr>
                <a:t>Structuring continent grouping</a:t>
              </a:r>
            </a:p>
            <a:p>
              <a:pPr marL="285750" indent="-285750">
                <a:lnSpc>
                  <a:spcPct val="150000"/>
                </a:lnSpc>
                <a:buFont typeface="Wingdings" panose="05000000000000000000" pitchFamily="2" charset="2"/>
                <a:buChar char="q"/>
              </a:pPr>
              <a:r>
                <a:rPr lang="en-US" sz="1600" dirty="0">
                  <a:solidFill>
                    <a:schemeClr val="bg1"/>
                  </a:solidFill>
                  <a:latin typeface="Times New Roman" panose="02020603050405020304" pitchFamily="18" charset="0"/>
                  <a:cs typeface="Times New Roman" panose="02020603050405020304" pitchFamily="18" charset="0"/>
                </a:rPr>
                <a:t>Preparation of dataset for modelling</a:t>
              </a:r>
            </a:p>
          </p:txBody>
        </p:sp>
      </p:grpSp>
    </p:spTree>
    <p:extLst>
      <p:ext uri="{BB962C8B-B14F-4D97-AF65-F5344CB8AC3E}">
        <p14:creationId xmlns:p14="http://schemas.microsoft.com/office/powerpoint/2010/main" val="3106557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FF0B949-3823-4A36-97E5-9B4F0A0F5005}"/>
              </a:ext>
            </a:extLst>
          </p:cNvPr>
          <p:cNvGrpSpPr/>
          <p:nvPr/>
        </p:nvGrpSpPr>
        <p:grpSpPr>
          <a:xfrm>
            <a:off x="-1" y="723659"/>
            <a:ext cx="6000751" cy="4877041"/>
            <a:chOff x="-1" y="723659"/>
            <a:chExt cx="6000751" cy="4877041"/>
          </a:xfrm>
        </p:grpSpPr>
        <p:sp>
          <p:nvSpPr>
            <p:cNvPr id="11" name="Rectangle 10">
              <a:extLst>
                <a:ext uri="{FF2B5EF4-FFF2-40B4-BE49-F238E27FC236}">
                  <a16:creationId xmlns:a16="http://schemas.microsoft.com/office/drawing/2014/main" id="{69DA25E4-44CB-44A5-8BD7-4DA02973797F}"/>
                </a:ext>
              </a:extLst>
            </p:cNvPr>
            <p:cNvSpPr/>
            <p:nvPr/>
          </p:nvSpPr>
          <p:spPr>
            <a:xfrm>
              <a:off x="-1" y="723659"/>
              <a:ext cx="6000751" cy="4877041"/>
            </a:xfrm>
            <a:prstGeom prst="rect">
              <a:avLst/>
            </a:prstGeom>
            <a:solidFill>
              <a:schemeClr val="accent2">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53CC4F9F-36A2-4195-90A9-009D6247317A}"/>
                </a:ext>
              </a:extLst>
            </p:cNvPr>
            <p:cNvPicPr>
              <a:picLocks noChangeAspect="1"/>
            </p:cNvPicPr>
            <p:nvPr/>
          </p:nvPicPr>
          <p:blipFill>
            <a:blip r:embed="rId2"/>
            <a:stretch>
              <a:fillRect/>
            </a:stretch>
          </p:blipFill>
          <p:spPr>
            <a:xfrm>
              <a:off x="79696" y="909128"/>
              <a:ext cx="5841355" cy="4506101"/>
            </a:xfrm>
            <a:prstGeom prst="rect">
              <a:avLst/>
            </a:prstGeom>
          </p:spPr>
        </p:pic>
      </p:grpSp>
      <p:sp>
        <p:nvSpPr>
          <p:cNvPr id="3" name="TextBox 2">
            <a:extLst>
              <a:ext uri="{FF2B5EF4-FFF2-40B4-BE49-F238E27FC236}">
                <a16:creationId xmlns:a16="http://schemas.microsoft.com/office/drawing/2014/main" id="{9726C3AC-1F1E-42D8-A787-BB9366A71A9A}"/>
              </a:ext>
            </a:extLst>
          </p:cNvPr>
          <p:cNvSpPr txBox="1"/>
          <p:nvPr/>
        </p:nvSpPr>
        <p:spPr>
          <a:xfrm>
            <a:off x="2096988" y="131668"/>
            <a:ext cx="1751111"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Data Model</a:t>
            </a:r>
          </a:p>
        </p:txBody>
      </p:sp>
      <p:sp>
        <p:nvSpPr>
          <p:cNvPr id="4" name="TextBox 3">
            <a:extLst>
              <a:ext uri="{FF2B5EF4-FFF2-40B4-BE49-F238E27FC236}">
                <a16:creationId xmlns:a16="http://schemas.microsoft.com/office/drawing/2014/main" id="{ED895BF9-205A-453B-B4B9-31D489358BF9}"/>
              </a:ext>
            </a:extLst>
          </p:cNvPr>
          <p:cNvSpPr txBox="1"/>
          <p:nvPr/>
        </p:nvSpPr>
        <p:spPr>
          <a:xfrm>
            <a:off x="1575490" y="-19051"/>
            <a:ext cx="361950" cy="400050"/>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3</a:t>
            </a:r>
          </a:p>
        </p:txBody>
      </p:sp>
      <p:sp>
        <p:nvSpPr>
          <p:cNvPr id="7" name="TextBox 6">
            <a:extLst>
              <a:ext uri="{FF2B5EF4-FFF2-40B4-BE49-F238E27FC236}">
                <a16:creationId xmlns:a16="http://schemas.microsoft.com/office/drawing/2014/main" id="{549724E8-2832-4AE1-BFD0-DEBEFA722FE7}"/>
              </a:ext>
            </a:extLst>
          </p:cNvPr>
          <p:cNvSpPr txBox="1"/>
          <p:nvPr/>
        </p:nvSpPr>
        <p:spPr>
          <a:xfrm>
            <a:off x="8865399" y="119014"/>
            <a:ext cx="1751111"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Report View</a:t>
            </a:r>
          </a:p>
        </p:txBody>
      </p:sp>
      <p:sp>
        <p:nvSpPr>
          <p:cNvPr id="8" name="TextBox 7">
            <a:extLst>
              <a:ext uri="{FF2B5EF4-FFF2-40B4-BE49-F238E27FC236}">
                <a16:creationId xmlns:a16="http://schemas.microsoft.com/office/drawing/2014/main" id="{154D1BF9-5A9E-4A10-AAE2-A38E6D35AAB7}"/>
              </a:ext>
            </a:extLst>
          </p:cNvPr>
          <p:cNvSpPr txBox="1"/>
          <p:nvPr/>
        </p:nvSpPr>
        <p:spPr>
          <a:xfrm>
            <a:off x="8343903" y="0"/>
            <a:ext cx="361950" cy="400050"/>
          </a:xfrm>
          <a:prstGeom prst="rect">
            <a:avLst/>
          </a:prstGeom>
          <a:solidFill>
            <a:schemeClr val="accent6">
              <a:lumMod val="75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4</a:t>
            </a:r>
          </a:p>
        </p:txBody>
      </p:sp>
      <p:sp>
        <p:nvSpPr>
          <p:cNvPr id="10" name="TextBox 9">
            <a:extLst>
              <a:ext uri="{FF2B5EF4-FFF2-40B4-BE49-F238E27FC236}">
                <a16:creationId xmlns:a16="http://schemas.microsoft.com/office/drawing/2014/main" id="{EC917261-9266-4D5B-9CB0-4EFAACAA0399}"/>
              </a:ext>
            </a:extLst>
          </p:cNvPr>
          <p:cNvSpPr txBox="1"/>
          <p:nvPr/>
        </p:nvSpPr>
        <p:spPr>
          <a:xfrm>
            <a:off x="7991478" y="723660"/>
            <a:ext cx="3257547" cy="458074"/>
          </a:xfrm>
          <a:prstGeom prst="rect">
            <a:avLst/>
          </a:prstGeom>
          <a:solidFill>
            <a:schemeClr val="accent6">
              <a:lumMod val="40000"/>
              <a:lumOff val="60000"/>
            </a:schemeClr>
          </a:solidFill>
          <a:ln w="63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lnSpc>
                <a:spcPct val="150000"/>
              </a:lnSpc>
            </a:pPr>
            <a:r>
              <a:rPr lang="en-US" b="1" dirty="0">
                <a:solidFill>
                  <a:schemeClr val="bg1"/>
                </a:solidFill>
                <a:latin typeface="Times New Roman" panose="02020603050405020304" pitchFamily="18" charset="0"/>
                <a:cs typeface="Times New Roman" panose="02020603050405020304" pitchFamily="18" charset="0"/>
              </a:rPr>
              <a:t>Market Overview Dashboard</a:t>
            </a:r>
            <a:endParaRPr lang="en-US" sz="1800" b="1" dirty="0">
              <a:solidFill>
                <a:schemeClr val="bg1"/>
              </a:solidFill>
              <a:latin typeface="Times New Roman" panose="02020603050405020304" pitchFamily="18" charset="0"/>
              <a:cs typeface="Times New Roman" panose="02020603050405020304" pitchFamily="18" charset="0"/>
            </a:endParaRPr>
          </a:p>
        </p:txBody>
      </p:sp>
      <p:grpSp>
        <p:nvGrpSpPr>
          <p:cNvPr id="16" name="Group 15">
            <a:extLst>
              <a:ext uri="{FF2B5EF4-FFF2-40B4-BE49-F238E27FC236}">
                <a16:creationId xmlns:a16="http://schemas.microsoft.com/office/drawing/2014/main" id="{D72D4A72-C319-4042-9F5D-D56F36244DF6}"/>
              </a:ext>
            </a:extLst>
          </p:cNvPr>
          <p:cNvGrpSpPr/>
          <p:nvPr/>
        </p:nvGrpSpPr>
        <p:grpSpPr>
          <a:xfrm>
            <a:off x="6096000" y="1181734"/>
            <a:ext cx="6111553" cy="5380992"/>
            <a:chOff x="6080447" y="1181733"/>
            <a:chExt cx="6111553" cy="5380992"/>
          </a:xfrm>
        </p:grpSpPr>
        <p:sp>
          <p:nvSpPr>
            <p:cNvPr id="12" name="Rectangle 11">
              <a:extLst>
                <a:ext uri="{FF2B5EF4-FFF2-40B4-BE49-F238E27FC236}">
                  <a16:creationId xmlns:a16="http://schemas.microsoft.com/office/drawing/2014/main" id="{ACD480C1-6C16-42C5-B94C-061A6A184403}"/>
                </a:ext>
              </a:extLst>
            </p:cNvPr>
            <p:cNvSpPr/>
            <p:nvPr/>
          </p:nvSpPr>
          <p:spPr>
            <a:xfrm>
              <a:off x="6080447" y="1181733"/>
              <a:ext cx="6111553" cy="5380992"/>
            </a:xfrm>
            <a:prstGeom prst="rect">
              <a:avLst/>
            </a:prstGeom>
            <a:solidFill>
              <a:schemeClr val="accent2">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3D6716E0-08FC-4E8D-86A6-B9E92ABAA7EF}"/>
                </a:ext>
              </a:extLst>
            </p:cNvPr>
            <p:cNvPicPr>
              <a:picLocks noChangeAspect="1"/>
            </p:cNvPicPr>
            <p:nvPr/>
          </p:nvPicPr>
          <p:blipFill>
            <a:blip r:embed="rId3"/>
            <a:stretch>
              <a:fillRect/>
            </a:stretch>
          </p:blipFill>
          <p:spPr>
            <a:xfrm>
              <a:off x="6136480" y="1287112"/>
              <a:ext cx="6015038" cy="5189283"/>
            </a:xfrm>
            <a:prstGeom prst="rect">
              <a:avLst/>
            </a:prstGeom>
          </p:spPr>
        </p:pic>
      </p:grpSp>
    </p:spTree>
    <p:extLst>
      <p:ext uri="{BB962C8B-B14F-4D97-AF65-F5344CB8AC3E}">
        <p14:creationId xmlns:p14="http://schemas.microsoft.com/office/powerpoint/2010/main" val="850203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2353C7F4-E089-47DB-972A-5BC5DF73BB14}"/>
              </a:ext>
            </a:extLst>
          </p:cNvPr>
          <p:cNvGrpSpPr/>
          <p:nvPr/>
        </p:nvGrpSpPr>
        <p:grpSpPr>
          <a:xfrm>
            <a:off x="3467100" y="0"/>
            <a:ext cx="8724900" cy="2790825"/>
            <a:chOff x="0" y="0"/>
            <a:chExt cx="8724900" cy="2790825"/>
          </a:xfrm>
        </p:grpSpPr>
        <p:sp>
          <p:nvSpPr>
            <p:cNvPr id="16" name="Rectangle 15">
              <a:extLst>
                <a:ext uri="{FF2B5EF4-FFF2-40B4-BE49-F238E27FC236}">
                  <a16:creationId xmlns:a16="http://schemas.microsoft.com/office/drawing/2014/main" id="{2362A7B0-C04A-4F36-8D80-74CFC07ACEE6}"/>
                </a:ext>
              </a:extLst>
            </p:cNvPr>
            <p:cNvSpPr/>
            <p:nvPr/>
          </p:nvSpPr>
          <p:spPr>
            <a:xfrm>
              <a:off x="0" y="0"/>
              <a:ext cx="8724900" cy="2790825"/>
            </a:xfrm>
            <a:prstGeom prst="rect">
              <a:avLst/>
            </a:prstGeom>
            <a:solidFill>
              <a:schemeClr val="accent2">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BA8FBDD3-1389-41F7-A37D-30EB3804EE76}"/>
                </a:ext>
              </a:extLst>
            </p:cNvPr>
            <p:cNvPicPr>
              <a:picLocks noChangeAspect="1"/>
            </p:cNvPicPr>
            <p:nvPr/>
          </p:nvPicPr>
          <p:blipFill>
            <a:blip r:embed="rId2"/>
            <a:stretch>
              <a:fillRect/>
            </a:stretch>
          </p:blipFill>
          <p:spPr>
            <a:xfrm>
              <a:off x="104341" y="80566"/>
              <a:ext cx="8547397" cy="2638425"/>
            </a:xfrm>
            <a:prstGeom prst="rect">
              <a:avLst/>
            </a:prstGeom>
          </p:spPr>
        </p:pic>
      </p:grpSp>
      <p:grpSp>
        <p:nvGrpSpPr>
          <p:cNvPr id="19" name="Group 18">
            <a:extLst>
              <a:ext uri="{FF2B5EF4-FFF2-40B4-BE49-F238E27FC236}">
                <a16:creationId xmlns:a16="http://schemas.microsoft.com/office/drawing/2014/main" id="{57B56BC1-1D14-4D2F-9F04-7DBA1F2F7413}"/>
              </a:ext>
            </a:extLst>
          </p:cNvPr>
          <p:cNvGrpSpPr/>
          <p:nvPr/>
        </p:nvGrpSpPr>
        <p:grpSpPr>
          <a:xfrm>
            <a:off x="4048125" y="2871391"/>
            <a:ext cx="8143875" cy="3986609"/>
            <a:chOff x="4048125" y="2871391"/>
            <a:chExt cx="8143875" cy="3986609"/>
          </a:xfrm>
        </p:grpSpPr>
        <p:sp>
          <p:nvSpPr>
            <p:cNvPr id="18" name="Rectangle 17">
              <a:extLst>
                <a:ext uri="{FF2B5EF4-FFF2-40B4-BE49-F238E27FC236}">
                  <a16:creationId xmlns:a16="http://schemas.microsoft.com/office/drawing/2014/main" id="{F187E5C8-955C-4FBF-B3F8-A09FE51CA58E}"/>
                </a:ext>
              </a:extLst>
            </p:cNvPr>
            <p:cNvSpPr/>
            <p:nvPr/>
          </p:nvSpPr>
          <p:spPr>
            <a:xfrm>
              <a:off x="4048125" y="2871391"/>
              <a:ext cx="8143875" cy="3986609"/>
            </a:xfrm>
            <a:prstGeom prst="rect">
              <a:avLst/>
            </a:prstGeom>
            <a:solidFill>
              <a:schemeClr val="accent2">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228DED50-55D8-415B-B6C4-C7FED5A954E0}"/>
                </a:ext>
              </a:extLst>
            </p:cNvPr>
            <p:cNvPicPr>
              <a:picLocks noChangeAspect="1"/>
            </p:cNvPicPr>
            <p:nvPr/>
          </p:nvPicPr>
          <p:blipFill>
            <a:blip r:embed="rId3"/>
            <a:stretch>
              <a:fillRect/>
            </a:stretch>
          </p:blipFill>
          <p:spPr>
            <a:xfrm>
              <a:off x="4171951" y="2933501"/>
              <a:ext cx="7946888" cy="3862387"/>
            </a:xfrm>
            <a:prstGeom prst="rect">
              <a:avLst/>
            </a:prstGeom>
          </p:spPr>
        </p:pic>
      </p:grpSp>
      <p:sp>
        <p:nvSpPr>
          <p:cNvPr id="20" name="TextBox 19">
            <a:extLst>
              <a:ext uri="{FF2B5EF4-FFF2-40B4-BE49-F238E27FC236}">
                <a16:creationId xmlns:a16="http://schemas.microsoft.com/office/drawing/2014/main" id="{9C151653-AD4E-4DDB-9799-2659ACADD4EE}"/>
              </a:ext>
            </a:extLst>
          </p:cNvPr>
          <p:cNvSpPr txBox="1"/>
          <p:nvPr/>
        </p:nvSpPr>
        <p:spPr>
          <a:xfrm>
            <a:off x="85725" y="1318338"/>
            <a:ext cx="3257547" cy="458074"/>
          </a:xfrm>
          <a:prstGeom prst="rect">
            <a:avLst/>
          </a:prstGeom>
          <a:solidFill>
            <a:schemeClr val="accent6">
              <a:lumMod val="40000"/>
              <a:lumOff val="60000"/>
            </a:schemeClr>
          </a:solidFill>
          <a:ln w="63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lnSpc>
                <a:spcPct val="150000"/>
              </a:lnSpc>
            </a:pPr>
            <a:r>
              <a:rPr lang="en-US" b="1" dirty="0">
                <a:solidFill>
                  <a:schemeClr val="bg1"/>
                </a:solidFill>
                <a:latin typeface="Times New Roman" panose="02020603050405020304" pitchFamily="18" charset="0"/>
                <a:cs typeface="Times New Roman" panose="02020603050405020304" pitchFamily="18" charset="0"/>
              </a:rPr>
              <a:t>Price Analysis Dashboard</a:t>
            </a:r>
            <a:endParaRPr lang="en-US" sz="1800" b="1" dirty="0">
              <a:solidFill>
                <a:schemeClr val="bg1"/>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0A263469-99A5-499C-93A3-1ACFC01CB22A}"/>
              </a:ext>
            </a:extLst>
          </p:cNvPr>
          <p:cNvSpPr txBox="1"/>
          <p:nvPr/>
        </p:nvSpPr>
        <p:spPr>
          <a:xfrm>
            <a:off x="85726" y="4568982"/>
            <a:ext cx="3257547" cy="458074"/>
          </a:xfrm>
          <a:prstGeom prst="rect">
            <a:avLst/>
          </a:prstGeom>
          <a:solidFill>
            <a:schemeClr val="accent6">
              <a:lumMod val="40000"/>
              <a:lumOff val="60000"/>
            </a:schemeClr>
          </a:solidFill>
          <a:ln w="63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a:spAutoFit/>
          </a:bodyPr>
          <a:lstStyle/>
          <a:p>
            <a:pPr algn="ctr">
              <a:lnSpc>
                <a:spcPct val="150000"/>
              </a:lnSpc>
            </a:pPr>
            <a:r>
              <a:rPr lang="en-US" b="1" dirty="0">
                <a:solidFill>
                  <a:schemeClr val="bg1"/>
                </a:solidFill>
                <a:latin typeface="Times New Roman" panose="02020603050405020304" pitchFamily="18" charset="0"/>
                <a:cs typeface="Times New Roman" panose="02020603050405020304" pitchFamily="18" charset="0"/>
              </a:rPr>
              <a:t>Product Analysis Dashboard</a:t>
            </a:r>
            <a:endParaRPr lang="en-US" sz="1800" b="1"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EF3DB791-B008-4732-8D95-BA6988766A36}"/>
              </a:ext>
            </a:extLst>
          </p:cNvPr>
          <p:cNvSpPr txBox="1"/>
          <p:nvPr/>
        </p:nvSpPr>
        <p:spPr>
          <a:xfrm>
            <a:off x="169075" y="80566"/>
            <a:ext cx="1564476"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Report View</a:t>
            </a:r>
          </a:p>
        </p:txBody>
      </p:sp>
      <p:sp>
        <p:nvSpPr>
          <p:cNvPr id="23" name="TextBox 22">
            <a:extLst>
              <a:ext uri="{FF2B5EF4-FFF2-40B4-BE49-F238E27FC236}">
                <a16:creationId xmlns:a16="http://schemas.microsoft.com/office/drawing/2014/main" id="{F9EC8EFF-DB98-433A-8C4A-0342280CB787}"/>
              </a:ext>
            </a:extLst>
          </p:cNvPr>
          <p:cNvSpPr txBox="1"/>
          <p:nvPr/>
        </p:nvSpPr>
        <p:spPr>
          <a:xfrm>
            <a:off x="1569250" y="597757"/>
            <a:ext cx="1031076"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Cont’d</a:t>
            </a:r>
          </a:p>
        </p:txBody>
      </p:sp>
    </p:spTree>
    <p:extLst>
      <p:ext uri="{BB962C8B-B14F-4D97-AF65-F5344CB8AC3E}">
        <p14:creationId xmlns:p14="http://schemas.microsoft.com/office/powerpoint/2010/main" val="35691389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DF3DEF9-F675-4F1F-8DF7-64749934E097}"/>
              </a:ext>
            </a:extLst>
          </p:cNvPr>
          <p:cNvSpPr txBox="1"/>
          <p:nvPr/>
        </p:nvSpPr>
        <p:spPr>
          <a:xfrm>
            <a:off x="4580889" y="177967"/>
            <a:ext cx="2531270" cy="742511"/>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User Journey</a:t>
            </a:r>
          </a:p>
        </p:txBody>
      </p:sp>
      <p:sp>
        <p:nvSpPr>
          <p:cNvPr id="12" name="Oval 11">
            <a:extLst>
              <a:ext uri="{FF2B5EF4-FFF2-40B4-BE49-F238E27FC236}">
                <a16:creationId xmlns:a16="http://schemas.microsoft.com/office/drawing/2014/main" id="{CBEA95D7-5DFF-4B48-9480-BE013179688B}"/>
              </a:ext>
            </a:extLst>
          </p:cNvPr>
          <p:cNvSpPr/>
          <p:nvPr/>
        </p:nvSpPr>
        <p:spPr>
          <a:xfrm>
            <a:off x="145626" y="806178"/>
            <a:ext cx="2466975" cy="676275"/>
          </a:xfrm>
          <a:prstGeom prst="ellipse">
            <a:avLst/>
          </a:prstGeom>
          <a:solidFill>
            <a:schemeClr val="tx2">
              <a:lumMod val="40000"/>
              <a:lumOff val="60000"/>
            </a:schemeClr>
          </a:solidFill>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b="1" dirty="0">
                <a:solidFill>
                  <a:schemeClr val="bg1"/>
                </a:solidFill>
                <a:latin typeface="Times New Roman" panose="02020603050405020304" pitchFamily="18" charset="0"/>
                <a:cs typeface="Times New Roman" panose="02020603050405020304" pitchFamily="18" charset="0"/>
              </a:rPr>
              <a:t>START</a:t>
            </a:r>
          </a:p>
        </p:txBody>
      </p:sp>
      <p:cxnSp>
        <p:nvCxnSpPr>
          <p:cNvPr id="14" name="Straight Arrow Connector 13">
            <a:extLst>
              <a:ext uri="{FF2B5EF4-FFF2-40B4-BE49-F238E27FC236}">
                <a16:creationId xmlns:a16="http://schemas.microsoft.com/office/drawing/2014/main" id="{98FED8CD-DE64-4708-8FFE-38E91E2DA51E}"/>
              </a:ext>
            </a:extLst>
          </p:cNvPr>
          <p:cNvCxnSpPr>
            <a:cxnSpLocks/>
            <a:stCxn id="12" idx="4"/>
          </p:cNvCxnSpPr>
          <p:nvPr/>
        </p:nvCxnSpPr>
        <p:spPr>
          <a:xfrm flipH="1">
            <a:off x="1379113" y="1482453"/>
            <a:ext cx="1" cy="92149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1531206D-CD47-4E93-B9DC-042A5CB270A0}"/>
              </a:ext>
            </a:extLst>
          </p:cNvPr>
          <p:cNvGrpSpPr/>
          <p:nvPr/>
        </p:nvGrpSpPr>
        <p:grpSpPr>
          <a:xfrm>
            <a:off x="21177" y="2403951"/>
            <a:ext cx="4352289" cy="1920467"/>
            <a:chOff x="3667125" y="1676399"/>
            <a:chExt cx="4352289" cy="1920467"/>
          </a:xfrm>
          <a:solidFill>
            <a:schemeClr val="tx1">
              <a:lumMod val="65000"/>
            </a:schemeClr>
          </a:solidFill>
        </p:grpSpPr>
        <p:sp>
          <p:nvSpPr>
            <p:cNvPr id="15" name="Rectangle 14">
              <a:extLst>
                <a:ext uri="{FF2B5EF4-FFF2-40B4-BE49-F238E27FC236}">
                  <a16:creationId xmlns:a16="http://schemas.microsoft.com/office/drawing/2014/main" id="{B506EAE9-1D26-4AF0-99EE-A2C0780552EB}"/>
                </a:ext>
              </a:extLst>
            </p:cNvPr>
            <p:cNvSpPr/>
            <p:nvPr/>
          </p:nvSpPr>
          <p:spPr>
            <a:xfrm>
              <a:off x="3667126" y="1676399"/>
              <a:ext cx="4318264" cy="1920467"/>
            </a:xfrm>
            <a:prstGeom prst="rect">
              <a:avLst/>
            </a:prstGeom>
            <a:grpFill/>
            <a:ln>
              <a:noFill/>
            </a:ln>
            <a:effectLst/>
            <a:scene3d>
              <a:camera prst="orthographicFront">
                <a:rot lat="0" lon="0" rev="0"/>
              </a:camera>
              <a:lightRig rig="contrasting" dir="t">
                <a:rot lat="0" lon="0" rev="7800000"/>
              </a:lightRig>
            </a:scene3d>
            <a:sp3d>
              <a:bevelT w="139700" h="1397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500" b="1" dirty="0">
                <a:ln>
                  <a:solidFill>
                    <a:sysClr val="windowText" lastClr="000000"/>
                  </a:solidFill>
                </a:ln>
                <a:solidFill>
                  <a:sysClr val="windowText" lastClr="000000"/>
                </a:solidFill>
                <a:highlight>
                  <a:srgbClr val="00FF00"/>
                </a:highlight>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FBC5556D-25AB-426C-8969-46A258ACF7B8}"/>
                </a:ext>
              </a:extLst>
            </p:cNvPr>
            <p:cNvSpPr txBox="1"/>
            <p:nvPr/>
          </p:nvSpPr>
          <p:spPr>
            <a:xfrm>
              <a:off x="3667125" y="1745218"/>
              <a:ext cx="1943100" cy="369332"/>
            </a:xfrm>
            <a:prstGeom prst="rect">
              <a:avLst/>
            </a:prstGeom>
            <a:grpFill/>
          </p:spPr>
          <p:txBody>
            <a:bodyPr wrap="square" rtlCol="0">
              <a:spAutoFit/>
            </a:bodyPr>
            <a:lstStyle/>
            <a:p>
              <a:r>
                <a:rPr lang="en-US" sz="1800" b="1" dirty="0">
                  <a:ln>
                    <a:solidFill>
                      <a:sysClr val="windowText" lastClr="000000"/>
                    </a:solidFill>
                  </a:ln>
                  <a:solidFill>
                    <a:sysClr val="windowText" lastClr="000000"/>
                  </a:solidFill>
                  <a:highlight>
                    <a:srgbClr val="00FF00"/>
                  </a:highlight>
                  <a:latin typeface="Times New Roman" panose="02020603050405020304" pitchFamily="18" charset="0"/>
                  <a:cs typeface="Times New Roman" panose="02020603050405020304" pitchFamily="18" charset="0"/>
                </a:rPr>
                <a:t>Market Overview</a:t>
              </a:r>
            </a:p>
          </p:txBody>
        </p:sp>
        <p:cxnSp>
          <p:nvCxnSpPr>
            <p:cNvPr id="18" name="Straight Connector 17">
              <a:extLst>
                <a:ext uri="{FF2B5EF4-FFF2-40B4-BE49-F238E27FC236}">
                  <a16:creationId xmlns:a16="http://schemas.microsoft.com/office/drawing/2014/main" id="{183D94D7-C802-4345-AE9C-D273A856FF5B}"/>
                </a:ext>
              </a:extLst>
            </p:cNvPr>
            <p:cNvCxnSpPr>
              <a:cxnSpLocks/>
            </p:cNvCxnSpPr>
            <p:nvPr/>
          </p:nvCxnSpPr>
          <p:spPr>
            <a:xfrm>
              <a:off x="4638675" y="2063749"/>
              <a:ext cx="0" cy="11887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0B56072-4995-4F94-A96B-9463EC78BF84}"/>
                </a:ext>
              </a:extLst>
            </p:cNvPr>
            <p:cNvCxnSpPr>
              <a:cxnSpLocks/>
            </p:cNvCxnSpPr>
            <p:nvPr/>
          </p:nvCxnSpPr>
          <p:spPr>
            <a:xfrm>
              <a:off x="4638675" y="2216149"/>
              <a:ext cx="118300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B989837-9BE9-427D-A3A4-0CF64F526F8B}"/>
                </a:ext>
              </a:extLst>
            </p:cNvPr>
            <p:cNvCxnSpPr>
              <a:cxnSpLocks/>
            </p:cNvCxnSpPr>
            <p:nvPr/>
          </p:nvCxnSpPr>
          <p:spPr>
            <a:xfrm>
              <a:off x="4638674" y="2693073"/>
              <a:ext cx="118300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7F29832-8AED-483B-B496-53564BB22B46}"/>
                </a:ext>
              </a:extLst>
            </p:cNvPr>
            <p:cNvCxnSpPr>
              <a:cxnSpLocks/>
            </p:cNvCxnSpPr>
            <p:nvPr/>
          </p:nvCxnSpPr>
          <p:spPr>
            <a:xfrm flipV="1">
              <a:off x="4638675" y="3207584"/>
              <a:ext cx="1183005" cy="1587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50D75DD-A851-4BBE-BF12-601B7C55F6B1}"/>
                </a:ext>
              </a:extLst>
            </p:cNvPr>
            <p:cNvSpPr txBox="1"/>
            <p:nvPr/>
          </p:nvSpPr>
          <p:spPr>
            <a:xfrm>
              <a:off x="5816186" y="2015304"/>
              <a:ext cx="1620916" cy="369332"/>
            </a:xfrm>
            <a:prstGeom prst="rect">
              <a:avLst/>
            </a:prstGeom>
            <a:grpFill/>
          </p:spPr>
          <p:txBody>
            <a:bodyPr wrap="square" rtlCol="0">
              <a:spAutoFit/>
            </a:bodyPr>
            <a:lstStyle/>
            <a:p>
              <a:r>
                <a:rPr lang="en-US" dirty="0">
                  <a:ln>
                    <a:solidFill>
                      <a:sysClr val="windowText" lastClr="000000"/>
                    </a:solidFill>
                  </a:ln>
                  <a:solidFill>
                    <a:sysClr val="windowText" lastClr="000000"/>
                  </a:solidFill>
                  <a:latin typeface="Times New Roman" panose="02020603050405020304" pitchFamily="18" charset="0"/>
                  <a:cs typeface="Times New Roman" panose="02020603050405020304" pitchFamily="18" charset="0"/>
                </a:rPr>
                <a:t>KPI Summary</a:t>
              </a:r>
            </a:p>
          </p:txBody>
        </p:sp>
        <p:sp>
          <p:nvSpPr>
            <p:cNvPr id="26" name="TextBox 25">
              <a:extLst>
                <a:ext uri="{FF2B5EF4-FFF2-40B4-BE49-F238E27FC236}">
                  <a16:creationId xmlns:a16="http://schemas.microsoft.com/office/drawing/2014/main" id="{B3E83D7C-F841-4424-92A6-AA0272D67018}"/>
                </a:ext>
              </a:extLst>
            </p:cNvPr>
            <p:cNvSpPr txBox="1"/>
            <p:nvPr/>
          </p:nvSpPr>
          <p:spPr>
            <a:xfrm>
              <a:off x="5827174" y="2310098"/>
              <a:ext cx="2127692" cy="646331"/>
            </a:xfrm>
            <a:prstGeom prst="rect">
              <a:avLst/>
            </a:prstGeom>
            <a:grpFill/>
          </p:spPr>
          <p:txBody>
            <a:bodyPr wrap="square" rtlCol="0">
              <a:spAutoFit/>
            </a:bodyPr>
            <a:lstStyle/>
            <a:p>
              <a:r>
                <a:rPr lang="en-US" dirty="0">
                  <a:ln>
                    <a:solidFill>
                      <a:sysClr val="windowText" lastClr="000000"/>
                    </a:solidFill>
                  </a:ln>
                  <a:solidFill>
                    <a:sysClr val="windowText" lastClr="000000"/>
                  </a:solidFill>
                  <a:latin typeface="Times New Roman" panose="02020603050405020304" pitchFamily="18" charset="0"/>
                  <a:cs typeface="Times New Roman" panose="02020603050405020304" pitchFamily="18" charset="0"/>
                </a:rPr>
                <a:t>Country &amp; Continent Analysis</a:t>
              </a:r>
            </a:p>
          </p:txBody>
        </p:sp>
        <p:sp>
          <p:nvSpPr>
            <p:cNvPr id="29" name="TextBox 28">
              <a:extLst>
                <a:ext uri="{FF2B5EF4-FFF2-40B4-BE49-F238E27FC236}">
                  <a16:creationId xmlns:a16="http://schemas.microsoft.com/office/drawing/2014/main" id="{BF19827B-403C-4C6C-A9E9-D5FA9BE61B58}"/>
                </a:ext>
              </a:extLst>
            </p:cNvPr>
            <p:cNvSpPr txBox="1"/>
            <p:nvPr/>
          </p:nvSpPr>
          <p:spPr>
            <a:xfrm>
              <a:off x="5761991" y="2943929"/>
              <a:ext cx="2257423" cy="646331"/>
            </a:xfrm>
            <a:prstGeom prst="rect">
              <a:avLst/>
            </a:prstGeom>
            <a:grpFill/>
          </p:spPr>
          <p:txBody>
            <a:bodyPr wrap="square" rtlCol="0">
              <a:spAutoFit/>
            </a:bodyPr>
            <a:lstStyle/>
            <a:p>
              <a:r>
                <a:rPr lang="en-US" dirty="0">
                  <a:ln>
                    <a:solidFill>
                      <a:sysClr val="windowText" lastClr="000000"/>
                    </a:solidFill>
                  </a:ln>
                  <a:solidFill>
                    <a:sysClr val="windowText" lastClr="000000"/>
                  </a:solidFill>
                  <a:latin typeface="Times New Roman" panose="02020603050405020304" pitchFamily="18" charset="0"/>
                  <a:cs typeface="Times New Roman" panose="02020603050405020304" pitchFamily="18" charset="0"/>
                </a:rPr>
                <a:t>Market &amp; Commodity Overview</a:t>
              </a:r>
            </a:p>
          </p:txBody>
        </p:sp>
      </p:grpSp>
      <p:grpSp>
        <p:nvGrpSpPr>
          <p:cNvPr id="37" name="Group 36">
            <a:extLst>
              <a:ext uri="{FF2B5EF4-FFF2-40B4-BE49-F238E27FC236}">
                <a16:creationId xmlns:a16="http://schemas.microsoft.com/office/drawing/2014/main" id="{BAB907E1-4FE6-4786-B79C-B66FBB58FBC6}"/>
              </a:ext>
            </a:extLst>
          </p:cNvPr>
          <p:cNvGrpSpPr/>
          <p:nvPr/>
        </p:nvGrpSpPr>
        <p:grpSpPr>
          <a:xfrm>
            <a:off x="7712003" y="1182039"/>
            <a:ext cx="4352289" cy="1913858"/>
            <a:chOff x="3667125" y="1676400"/>
            <a:chExt cx="4352289" cy="1913858"/>
          </a:xfrm>
          <a:solidFill>
            <a:schemeClr val="tx1">
              <a:lumMod val="65000"/>
            </a:schemeClr>
          </a:solidFill>
        </p:grpSpPr>
        <p:sp>
          <p:nvSpPr>
            <p:cNvPr id="38" name="Rectangle 37">
              <a:extLst>
                <a:ext uri="{FF2B5EF4-FFF2-40B4-BE49-F238E27FC236}">
                  <a16:creationId xmlns:a16="http://schemas.microsoft.com/office/drawing/2014/main" id="{3FBF38D9-6B3B-4A8F-9449-B37BE749D21D}"/>
                </a:ext>
              </a:extLst>
            </p:cNvPr>
            <p:cNvSpPr/>
            <p:nvPr/>
          </p:nvSpPr>
          <p:spPr>
            <a:xfrm>
              <a:off x="3667125" y="1676400"/>
              <a:ext cx="4352289" cy="1913858"/>
            </a:xfrm>
            <a:prstGeom prst="rect">
              <a:avLst/>
            </a:prstGeom>
            <a:grpFill/>
            <a:ln>
              <a:noFill/>
            </a:ln>
            <a:effectLst/>
            <a:scene3d>
              <a:camera prst="orthographicFront">
                <a:rot lat="0" lon="0" rev="0"/>
              </a:camera>
              <a:lightRig rig="contrasting" dir="t">
                <a:rot lat="0" lon="0" rev="7800000"/>
              </a:lightRig>
            </a:scene3d>
            <a:sp3d>
              <a:bevelT w="139700" h="1397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500" b="1" dirty="0">
                <a:solidFill>
                  <a:schemeClr val="bg1"/>
                </a:solidFill>
                <a:highlight>
                  <a:srgbClr val="00FF00"/>
                </a:highlight>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3002726E-B4C5-4269-945A-9E037BEF0BF9}"/>
                </a:ext>
              </a:extLst>
            </p:cNvPr>
            <p:cNvSpPr txBox="1"/>
            <p:nvPr/>
          </p:nvSpPr>
          <p:spPr>
            <a:xfrm>
              <a:off x="3667125" y="1745218"/>
              <a:ext cx="1943100" cy="369332"/>
            </a:xfrm>
            <a:prstGeom prst="rect">
              <a:avLst/>
            </a:prstGeom>
            <a:grpFill/>
          </p:spPr>
          <p:txBody>
            <a:bodyPr wrap="square" rtlCol="0">
              <a:spAutoFit/>
            </a:bodyPr>
            <a:lstStyle/>
            <a:p>
              <a:r>
                <a:rPr lang="en-US" b="1" dirty="0">
                  <a:solidFill>
                    <a:schemeClr val="bg1"/>
                  </a:solidFill>
                  <a:highlight>
                    <a:srgbClr val="00FF00"/>
                  </a:highlight>
                  <a:latin typeface="Times New Roman" panose="02020603050405020304" pitchFamily="18" charset="0"/>
                  <a:cs typeface="Times New Roman" panose="02020603050405020304" pitchFamily="18" charset="0"/>
                </a:rPr>
                <a:t>Product Analysis</a:t>
              </a:r>
              <a:endParaRPr lang="en-US" sz="1800" b="1" dirty="0">
                <a:solidFill>
                  <a:schemeClr val="bg1"/>
                </a:solidFill>
                <a:highlight>
                  <a:srgbClr val="00FF00"/>
                </a:highlight>
                <a:latin typeface="Times New Roman" panose="02020603050405020304" pitchFamily="18" charset="0"/>
                <a:cs typeface="Times New Roman" panose="02020603050405020304" pitchFamily="18" charset="0"/>
              </a:endParaRPr>
            </a:p>
          </p:txBody>
        </p:sp>
        <p:cxnSp>
          <p:nvCxnSpPr>
            <p:cNvPr id="40" name="Straight Connector 39">
              <a:extLst>
                <a:ext uri="{FF2B5EF4-FFF2-40B4-BE49-F238E27FC236}">
                  <a16:creationId xmlns:a16="http://schemas.microsoft.com/office/drawing/2014/main" id="{A534D61E-9745-4A61-8DEA-E696E6B19A84}"/>
                </a:ext>
              </a:extLst>
            </p:cNvPr>
            <p:cNvCxnSpPr>
              <a:cxnSpLocks/>
            </p:cNvCxnSpPr>
            <p:nvPr/>
          </p:nvCxnSpPr>
          <p:spPr>
            <a:xfrm>
              <a:off x="4638675" y="2063749"/>
              <a:ext cx="0" cy="11887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9ACDF1-1BE9-48AD-91EF-2789DAB404A5}"/>
                </a:ext>
              </a:extLst>
            </p:cNvPr>
            <p:cNvCxnSpPr>
              <a:cxnSpLocks/>
            </p:cNvCxnSpPr>
            <p:nvPr/>
          </p:nvCxnSpPr>
          <p:spPr>
            <a:xfrm>
              <a:off x="4638675" y="2216149"/>
              <a:ext cx="118300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963FC75-2D27-4407-880A-5A10196E379E}"/>
                </a:ext>
              </a:extLst>
            </p:cNvPr>
            <p:cNvCxnSpPr>
              <a:cxnSpLocks/>
            </p:cNvCxnSpPr>
            <p:nvPr/>
          </p:nvCxnSpPr>
          <p:spPr>
            <a:xfrm>
              <a:off x="4638674" y="2693073"/>
              <a:ext cx="118300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32F13F2-E13D-4407-9530-02D58FD1A419}"/>
                </a:ext>
              </a:extLst>
            </p:cNvPr>
            <p:cNvCxnSpPr>
              <a:cxnSpLocks/>
            </p:cNvCxnSpPr>
            <p:nvPr/>
          </p:nvCxnSpPr>
          <p:spPr>
            <a:xfrm flipV="1">
              <a:off x="4638675" y="3207584"/>
              <a:ext cx="1183005" cy="1587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D44C9018-93CB-48BC-89C5-BE77F2801474}"/>
                </a:ext>
              </a:extLst>
            </p:cNvPr>
            <p:cNvSpPr txBox="1"/>
            <p:nvPr/>
          </p:nvSpPr>
          <p:spPr>
            <a:xfrm>
              <a:off x="5781040" y="2048588"/>
              <a:ext cx="1943099" cy="369332"/>
            </a:xfrm>
            <a:prstGeom prst="rect">
              <a:avLst/>
            </a:prstGeom>
            <a:grp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Volatility Analysis</a:t>
              </a:r>
            </a:p>
          </p:txBody>
        </p:sp>
        <p:sp>
          <p:nvSpPr>
            <p:cNvPr id="45" name="TextBox 44">
              <a:extLst>
                <a:ext uri="{FF2B5EF4-FFF2-40B4-BE49-F238E27FC236}">
                  <a16:creationId xmlns:a16="http://schemas.microsoft.com/office/drawing/2014/main" id="{C34DFF4D-6452-4C12-9821-79E82F1C7EB4}"/>
                </a:ext>
              </a:extLst>
            </p:cNvPr>
            <p:cNvSpPr txBox="1"/>
            <p:nvPr/>
          </p:nvSpPr>
          <p:spPr>
            <a:xfrm>
              <a:off x="5788343" y="2496909"/>
              <a:ext cx="2219959" cy="369332"/>
            </a:xfrm>
            <a:prstGeom prst="rect">
              <a:avLst/>
            </a:prstGeom>
            <a:grp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Price vs Volatility</a:t>
              </a:r>
            </a:p>
          </p:txBody>
        </p:sp>
        <p:sp>
          <p:nvSpPr>
            <p:cNvPr id="46" name="TextBox 45">
              <a:extLst>
                <a:ext uri="{FF2B5EF4-FFF2-40B4-BE49-F238E27FC236}">
                  <a16:creationId xmlns:a16="http://schemas.microsoft.com/office/drawing/2014/main" id="{522518E3-87DF-41F6-82FB-59CBC1916D03}"/>
                </a:ext>
              </a:extLst>
            </p:cNvPr>
            <p:cNvSpPr txBox="1"/>
            <p:nvPr/>
          </p:nvSpPr>
          <p:spPr>
            <a:xfrm>
              <a:off x="5761991" y="2943929"/>
              <a:ext cx="2257423" cy="369332"/>
            </a:xfrm>
            <a:prstGeom prst="rect">
              <a:avLst/>
            </a:prstGeom>
            <a:grp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Product Frequency</a:t>
              </a:r>
            </a:p>
          </p:txBody>
        </p:sp>
      </p:grpSp>
      <p:grpSp>
        <p:nvGrpSpPr>
          <p:cNvPr id="47" name="Group 46">
            <a:extLst>
              <a:ext uri="{FF2B5EF4-FFF2-40B4-BE49-F238E27FC236}">
                <a16:creationId xmlns:a16="http://schemas.microsoft.com/office/drawing/2014/main" id="{B730690D-5E01-41F3-BA71-90EB1CCD03B4}"/>
              </a:ext>
            </a:extLst>
          </p:cNvPr>
          <p:cNvGrpSpPr/>
          <p:nvPr/>
        </p:nvGrpSpPr>
        <p:grpSpPr>
          <a:xfrm>
            <a:off x="4605020" y="4231911"/>
            <a:ext cx="4750645" cy="1913860"/>
            <a:chOff x="3667125" y="1676400"/>
            <a:chExt cx="4750645" cy="1913860"/>
          </a:xfrm>
          <a:solidFill>
            <a:schemeClr val="tx1">
              <a:lumMod val="65000"/>
            </a:schemeClr>
          </a:solidFill>
        </p:grpSpPr>
        <p:sp>
          <p:nvSpPr>
            <p:cNvPr id="48" name="Rectangle 47">
              <a:extLst>
                <a:ext uri="{FF2B5EF4-FFF2-40B4-BE49-F238E27FC236}">
                  <a16:creationId xmlns:a16="http://schemas.microsoft.com/office/drawing/2014/main" id="{8BDA454A-9DDE-41CA-9B08-E7BA9CE34101}"/>
                </a:ext>
              </a:extLst>
            </p:cNvPr>
            <p:cNvSpPr/>
            <p:nvPr/>
          </p:nvSpPr>
          <p:spPr>
            <a:xfrm>
              <a:off x="3667125" y="1676400"/>
              <a:ext cx="4750645" cy="1913858"/>
            </a:xfrm>
            <a:prstGeom prst="rect">
              <a:avLst/>
            </a:prstGeom>
            <a:grpFill/>
            <a:ln>
              <a:noFill/>
            </a:ln>
            <a:effectLst/>
            <a:scene3d>
              <a:camera prst="orthographicFront">
                <a:rot lat="0" lon="0" rev="0"/>
              </a:camera>
              <a:lightRig rig="contrasting" dir="t">
                <a:rot lat="0" lon="0" rev="7800000"/>
              </a:lightRig>
            </a:scene3d>
            <a:sp3d>
              <a:bevelT w="139700" h="139700"/>
            </a:sp3d>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500" b="1" dirty="0">
                <a:solidFill>
                  <a:schemeClr val="bg1"/>
                </a:solidFill>
                <a:highlight>
                  <a:srgbClr val="00FF00"/>
                </a:highlight>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DAB85009-361A-4BB5-A385-CF45B76F9258}"/>
                </a:ext>
              </a:extLst>
            </p:cNvPr>
            <p:cNvSpPr txBox="1"/>
            <p:nvPr/>
          </p:nvSpPr>
          <p:spPr>
            <a:xfrm>
              <a:off x="3667125" y="1745218"/>
              <a:ext cx="1943100" cy="369332"/>
            </a:xfrm>
            <a:prstGeom prst="rect">
              <a:avLst/>
            </a:prstGeom>
            <a:grpFill/>
          </p:spPr>
          <p:txBody>
            <a:bodyPr wrap="square" rtlCol="0">
              <a:spAutoFit/>
            </a:bodyPr>
            <a:lstStyle/>
            <a:p>
              <a:r>
                <a:rPr lang="en-US" b="1" dirty="0">
                  <a:solidFill>
                    <a:schemeClr val="bg1"/>
                  </a:solidFill>
                  <a:highlight>
                    <a:srgbClr val="00FF00"/>
                  </a:highlight>
                  <a:latin typeface="Times New Roman" panose="02020603050405020304" pitchFamily="18" charset="0"/>
                  <a:cs typeface="Times New Roman" panose="02020603050405020304" pitchFamily="18" charset="0"/>
                </a:rPr>
                <a:t>Price Analysis</a:t>
              </a:r>
            </a:p>
          </p:txBody>
        </p:sp>
        <p:cxnSp>
          <p:nvCxnSpPr>
            <p:cNvPr id="50" name="Straight Connector 49">
              <a:extLst>
                <a:ext uri="{FF2B5EF4-FFF2-40B4-BE49-F238E27FC236}">
                  <a16:creationId xmlns:a16="http://schemas.microsoft.com/office/drawing/2014/main" id="{A48ECD3E-8954-475D-B582-36CAC288F87A}"/>
                </a:ext>
              </a:extLst>
            </p:cNvPr>
            <p:cNvCxnSpPr>
              <a:cxnSpLocks/>
            </p:cNvCxnSpPr>
            <p:nvPr/>
          </p:nvCxnSpPr>
          <p:spPr>
            <a:xfrm>
              <a:off x="4638675" y="2063749"/>
              <a:ext cx="0" cy="118872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22A8E90-0576-4E9D-BC15-F662B6EF5386}"/>
                </a:ext>
              </a:extLst>
            </p:cNvPr>
            <p:cNvCxnSpPr>
              <a:cxnSpLocks/>
            </p:cNvCxnSpPr>
            <p:nvPr/>
          </p:nvCxnSpPr>
          <p:spPr>
            <a:xfrm>
              <a:off x="4638675" y="2216149"/>
              <a:ext cx="118300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52D360A-8130-49AD-BCD1-357346F519A7}"/>
                </a:ext>
              </a:extLst>
            </p:cNvPr>
            <p:cNvCxnSpPr>
              <a:cxnSpLocks/>
            </p:cNvCxnSpPr>
            <p:nvPr/>
          </p:nvCxnSpPr>
          <p:spPr>
            <a:xfrm>
              <a:off x="4638674" y="2693073"/>
              <a:ext cx="1183005"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923FFA0C-F9D7-499E-AE2D-C3F04FBEFB19}"/>
                </a:ext>
              </a:extLst>
            </p:cNvPr>
            <p:cNvCxnSpPr>
              <a:cxnSpLocks/>
            </p:cNvCxnSpPr>
            <p:nvPr/>
          </p:nvCxnSpPr>
          <p:spPr>
            <a:xfrm flipV="1">
              <a:off x="4638675" y="3207584"/>
              <a:ext cx="1183005" cy="15874"/>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84199E64-37C9-4B1D-BC70-7367E9739B1C}"/>
                </a:ext>
              </a:extLst>
            </p:cNvPr>
            <p:cNvSpPr txBox="1"/>
            <p:nvPr/>
          </p:nvSpPr>
          <p:spPr>
            <a:xfrm>
              <a:off x="5781040" y="2048588"/>
              <a:ext cx="1943099" cy="369332"/>
            </a:xfrm>
            <a:prstGeom prst="rect">
              <a:avLst/>
            </a:prstGeom>
            <a:grp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YoY Price Trends</a:t>
              </a:r>
            </a:p>
          </p:txBody>
        </p:sp>
        <p:sp>
          <p:nvSpPr>
            <p:cNvPr id="55" name="TextBox 54">
              <a:extLst>
                <a:ext uri="{FF2B5EF4-FFF2-40B4-BE49-F238E27FC236}">
                  <a16:creationId xmlns:a16="http://schemas.microsoft.com/office/drawing/2014/main" id="{9D5065C2-EFD1-456F-878F-538933845801}"/>
                </a:ext>
              </a:extLst>
            </p:cNvPr>
            <p:cNvSpPr txBox="1"/>
            <p:nvPr/>
          </p:nvSpPr>
          <p:spPr>
            <a:xfrm>
              <a:off x="5850256" y="2503172"/>
              <a:ext cx="1183006" cy="369332"/>
            </a:xfrm>
            <a:prstGeom prst="rect">
              <a:avLst/>
            </a:prstGeom>
            <a:grp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FX Trends</a:t>
              </a:r>
            </a:p>
          </p:txBody>
        </p:sp>
        <p:sp>
          <p:nvSpPr>
            <p:cNvPr id="56" name="TextBox 55">
              <a:extLst>
                <a:ext uri="{FF2B5EF4-FFF2-40B4-BE49-F238E27FC236}">
                  <a16:creationId xmlns:a16="http://schemas.microsoft.com/office/drawing/2014/main" id="{F5A67643-7C1A-4EC9-B644-9C6CE7A493D9}"/>
                </a:ext>
              </a:extLst>
            </p:cNvPr>
            <p:cNvSpPr txBox="1"/>
            <p:nvPr/>
          </p:nvSpPr>
          <p:spPr>
            <a:xfrm>
              <a:off x="5761991" y="2943929"/>
              <a:ext cx="2596514" cy="646331"/>
            </a:xfrm>
            <a:prstGeom prst="rect">
              <a:avLst/>
            </a:prstGeom>
            <a:grp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Accelerating &amp; Decelerating Products</a:t>
              </a:r>
            </a:p>
          </p:txBody>
        </p:sp>
      </p:grpSp>
      <p:cxnSp>
        <p:nvCxnSpPr>
          <p:cNvPr id="62" name="Connector: Elbow 61">
            <a:extLst>
              <a:ext uri="{FF2B5EF4-FFF2-40B4-BE49-F238E27FC236}">
                <a16:creationId xmlns:a16="http://schemas.microsoft.com/office/drawing/2014/main" id="{D861337E-8C03-4481-A3E4-C6E28489AB0D}"/>
              </a:ext>
            </a:extLst>
          </p:cNvPr>
          <p:cNvCxnSpPr>
            <a:cxnSpLocks/>
          </p:cNvCxnSpPr>
          <p:nvPr/>
        </p:nvCxnSpPr>
        <p:spPr>
          <a:xfrm>
            <a:off x="2116043" y="4353708"/>
            <a:ext cx="2488977" cy="835133"/>
          </a:xfrm>
          <a:prstGeom prst="bentConnector3">
            <a:avLst>
              <a:gd name="adj1" fmla="val 336"/>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Connector: Elbow 77">
            <a:extLst>
              <a:ext uri="{FF2B5EF4-FFF2-40B4-BE49-F238E27FC236}">
                <a16:creationId xmlns:a16="http://schemas.microsoft.com/office/drawing/2014/main" id="{2D90CF2C-12C2-4C70-B769-2887B69F086E}"/>
              </a:ext>
            </a:extLst>
          </p:cNvPr>
          <p:cNvCxnSpPr>
            <a:cxnSpLocks/>
            <a:endCxn id="38" idx="2"/>
          </p:cNvCxnSpPr>
          <p:nvPr/>
        </p:nvCxnSpPr>
        <p:spPr>
          <a:xfrm rot="5400000" flipH="1" flipV="1">
            <a:off x="8532256" y="3947882"/>
            <a:ext cx="2207876" cy="503907"/>
          </a:xfrm>
          <a:prstGeom prst="bentConnector3">
            <a:avLst>
              <a:gd name="adj1" fmla="val -23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889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1D2CB6-CB99-4954-860E-2BE1790CD617}"/>
              </a:ext>
            </a:extLst>
          </p:cNvPr>
          <p:cNvSpPr txBox="1"/>
          <p:nvPr/>
        </p:nvSpPr>
        <p:spPr>
          <a:xfrm>
            <a:off x="4631943" y="979729"/>
            <a:ext cx="3390900" cy="830997"/>
          </a:xfrm>
          <a:prstGeom prst="rect">
            <a:avLst/>
          </a:prstGeom>
          <a:noFill/>
        </p:spPr>
        <p:txBody>
          <a:bodyPr wrap="square" rtlCol="0">
            <a:spAutoFit/>
          </a:bodyPr>
          <a:lstStyle/>
          <a:p>
            <a:r>
              <a:rPr lang="en-US" sz="2400" b="1" dirty="0">
                <a:solidFill>
                  <a:schemeClr val="bg1"/>
                </a:solidFill>
                <a:highlight>
                  <a:srgbClr val="00FFFF"/>
                </a:highlight>
                <a:latin typeface="Times New Roman" panose="02020603050405020304" pitchFamily="18" charset="0"/>
                <a:cs typeface="Times New Roman" panose="02020603050405020304" pitchFamily="18" charset="0"/>
              </a:rPr>
              <a:t>Overall Market Structure </a:t>
            </a:r>
          </a:p>
        </p:txBody>
      </p:sp>
      <p:sp>
        <p:nvSpPr>
          <p:cNvPr id="5" name="TextBox 4">
            <a:extLst>
              <a:ext uri="{FF2B5EF4-FFF2-40B4-BE49-F238E27FC236}">
                <a16:creationId xmlns:a16="http://schemas.microsoft.com/office/drawing/2014/main" id="{0262C0B1-D702-4AFF-B46B-75D47131BEB4}"/>
              </a:ext>
            </a:extLst>
          </p:cNvPr>
          <p:cNvSpPr txBox="1"/>
          <p:nvPr/>
        </p:nvSpPr>
        <p:spPr>
          <a:xfrm>
            <a:off x="-12535" y="-38567"/>
            <a:ext cx="4786311" cy="10156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Period: </a:t>
            </a:r>
            <a:r>
              <a:rPr lang="en-US" sz="2000" dirty="0">
                <a:latin typeface="Times New Roman" panose="02020603050405020304" pitchFamily="18" charset="0"/>
                <a:cs typeface="Times New Roman" panose="02020603050405020304" pitchFamily="18" charset="0"/>
              </a:rPr>
              <a:t>2010 – 2017</a:t>
            </a:r>
          </a:p>
          <a:p>
            <a:r>
              <a:rPr lang="en-US" sz="2000" b="1" dirty="0">
                <a:latin typeface="Times New Roman" panose="02020603050405020304" pitchFamily="18" charset="0"/>
                <a:cs typeface="Times New Roman" panose="02020603050405020304" pitchFamily="18" charset="0"/>
              </a:rPr>
              <a:t>Commodity: </a:t>
            </a:r>
            <a:r>
              <a:rPr lang="en-US" sz="2000" dirty="0">
                <a:latin typeface="Times New Roman" panose="02020603050405020304" pitchFamily="18" charset="0"/>
                <a:cs typeface="Times New Roman" panose="02020603050405020304" pitchFamily="18" charset="0"/>
              </a:rPr>
              <a:t>Food</a:t>
            </a:r>
          </a:p>
          <a:p>
            <a:r>
              <a:rPr lang="en-US" sz="2000" b="1" dirty="0">
                <a:latin typeface="Times New Roman" panose="02020603050405020304" pitchFamily="18" charset="0"/>
                <a:cs typeface="Times New Roman" panose="02020603050405020304" pitchFamily="18" charset="0"/>
              </a:rPr>
              <a:t>Countries: </a:t>
            </a:r>
            <a:r>
              <a:rPr lang="en-US" sz="2000" dirty="0">
                <a:latin typeface="Times New Roman" panose="02020603050405020304" pitchFamily="18" charset="0"/>
                <a:cs typeface="Times New Roman" panose="02020603050405020304" pitchFamily="18" charset="0"/>
              </a:rPr>
              <a:t>Those with FX Data</a:t>
            </a:r>
          </a:p>
        </p:txBody>
      </p:sp>
      <p:sp>
        <p:nvSpPr>
          <p:cNvPr id="7" name="TextBox 6">
            <a:extLst>
              <a:ext uri="{FF2B5EF4-FFF2-40B4-BE49-F238E27FC236}">
                <a16:creationId xmlns:a16="http://schemas.microsoft.com/office/drawing/2014/main" id="{B6EE1EDB-0E8D-4A05-AC4B-9C6F207993FF}"/>
              </a:ext>
            </a:extLst>
          </p:cNvPr>
          <p:cNvSpPr txBox="1"/>
          <p:nvPr/>
        </p:nvSpPr>
        <p:spPr>
          <a:xfrm>
            <a:off x="5288755" y="76418"/>
            <a:ext cx="1614489" cy="742511"/>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Insights</a:t>
            </a:r>
          </a:p>
        </p:txBody>
      </p:sp>
      <p:pic>
        <p:nvPicPr>
          <p:cNvPr id="12" name="Picture 11">
            <a:extLst>
              <a:ext uri="{FF2B5EF4-FFF2-40B4-BE49-F238E27FC236}">
                <a16:creationId xmlns:a16="http://schemas.microsoft.com/office/drawing/2014/main" id="{EACE7811-3F2F-48CE-9577-F0FE8994BCFF}"/>
              </a:ext>
            </a:extLst>
          </p:cNvPr>
          <p:cNvPicPr>
            <a:picLocks noChangeAspect="1"/>
          </p:cNvPicPr>
          <p:nvPr/>
        </p:nvPicPr>
        <p:blipFill>
          <a:blip r:embed="rId2"/>
          <a:stretch>
            <a:fillRect/>
          </a:stretch>
        </p:blipFill>
        <p:spPr>
          <a:xfrm>
            <a:off x="1744867" y="1462951"/>
            <a:ext cx="7944851" cy="742510"/>
          </a:xfrm>
          <a:prstGeom prst="rect">
            <a:avLst/>
          </a:prstGeom>
        </p:spPr>
      </p:pic>
      <p:grpSp>
        <p:nvGrpSpPr>
          <p:cNvPr id="27" name="Group 26">
            <a:extLst>
              <a:ext uri="{FF2B5EF4-FFF2-40B4-BE49-F238E27FC236}">
                <a16:creationId xmlns:a16="http://schemas.microsoft.com/office/drawing/2014/main" id="{5C2BB136-BE39-432F-B7F7-1FF469158711}"/>
              </a:ext>
            </a:extLst>
          </p:cNvPr>
          <p:cNvGrpSpPr/>
          <p:nvPr/>
        </p:nvGrpSpPr>
        <p:grpSpPr>
          <a:xfrm>
            <a:off x="439637" y="3065927"/>
            <a:ext cx="11432357" cy="3539430"/>
            <a:chOff x="513456" y="3105339"/>
            <a:chExt cx="11432357" cy="3539430"/>
          </a:xfrm>
        </p:grpSpPr>
        <p:pic>
          <p:nvPicPr>
            <p:cNvPr id="9" name="Picture 8">
              <a:extLst>
                <a:ext uri="{FF2B5EF4-FFF2-40B4-BE49-F238E27FC236}">
                  <a16:creationId xmlns:a16="http://schemas.microsoft.com/office/drawing/2014/main" id="{D69188F5-4A4D-45F0-97A9-CA45AF23F5D8}"/>
                </a:ext>
              </a:extLst>
            </p:cNvPr>
            <p:cNvPicPr>
              <a:picLocks noChangeAspect="1"/>
            </p:cNvPicPr>
            <p:nvPr/>
          </p:nvPicPr>
          <p:blipFill rotWithShape="1">
            <a:blip r:embed="rId3"/>
            <a:srcRect l="1235"/>
            <a:stretch/>
          </p:blipFill>
          <p:spPr>
            <a:xfrm>
              <a:off x="513457" y="3149402"/>
              <a:ext cx="4084162" cy="1691514"/>
            </a:xfrm>
            <a:prstGeom prst="rect">
              <a:avLst/>
            </a:prstGeom>
          </p:spPr>
        </p:pic>
        <p:pic>
          <p:nvPicPr>
            <p:cNvPr id="14" name="Picture 13">
              <a:extLst>
                <a:ext uri="{FF2B5EF4-FFF2-40B4-BE49-F238E27FC236}">
                  <a16:creationId xmlns:a16="http://schemas.microsoft.com/office/drawing/2014/main" id="{32085AF6-053C-40A6-A2D4-3BB63897AB74}"/>
                </a:ext>
              </a:extLst>
            </p:cNvPr>
            <p:cNvPicPr>
              <a:picLocks noChangeAspect="1"/>
            </p:cNvPicPr>
            <p:nvPr/>
          </p:nvPicPr>
          <p:blipFill>
            <a:blip r:embed="rId4"/>
            <a:stretch>
              <a:fillRect/>
            </a:stretch>
          </p:blipFill>
          <p:spPr>
            <a:xfrm>
              <a:off x="513456" y="5024742"/>
              <a:ext cx="4084162" cy="1438322"/>
            </a:xfrm>
            <a:prstGeom prst="rect">
              <a:avLst/>
            </a:prstGeom>
          </p:spPr>
        </p:pic>
        <p:sp>
          <p:nvSpPr>
            <p:cNvPr id="19" name="TextBox 18">
              <a:extLst>
                <a:ext uri="{FF2B5EF4-FFF2-40B4-BE49-F238E27FC236}">
                  <a16:creationId xmlns:a16="http://schemas.microsoft.com/office/drawing/2014/main" id="{CCDFE559-98DC-40A8-A3EE-0A9AC87AF813}"/>
                </a:ext>
              </a:extLst>
            </p:cNvPr>
            <p:cNvSpPr txBox="1"/>
            <p:nvPr/>
          </p:nvSpPr>
          <p:spPr>
            <a:xfrm>
              <a:off x="4992637" y="3105339"/>
              <a:ext cx="3766148" cy="3539430"/>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South America </a:t>
              </a:r>
              <a:r>
                <a:rPr lang="en-US" sz="1600" dirty="0">
                  <a:solidFill>
                    <a:schemeClr val="bg1"/>
                  </a:solidFill>
                  <a:effectLst/>
                  <a:latin typeface="Times New Roman" panose="02020603050405020304" pitchFamily="18" charset="0"/>
                  <a:cs typeface="Times New Roman" panose="02020603050405020304" pitchFamily="18" charset="0"/>
                </a:rPr>
                <a:t>tops the list at </a:t>
              </a:r>
              <a:r>
                <a:rPr lang="en-US" sz="1600" b="1" dirty="0">
                  <a:solidFill>
                    <a:schemeClr val="bg1"/>
                  </a:solidFill>
                  <a:effectLst/>
                  <a:latin typeface="Times New Roman" panose="02020603050405020304" pitchFamily="18" charset="0"/>
                  <a:cs typeface="Times New Roman" panose="02020603050405020304" pitchFamily="18" charset="0"/>
                </a:rPr>
                <a:t>$3.48M </a:t>
              </a:r>
              <a:r>
                <a:rPr lang="en-US" sz="1600" dirty="0">
                  <a:solidFill>
                    <a:schemeClr val="bg1"/>
                  </a:solidFill>
                  <a:effectLst/>
                  <a:latin typeface="Times New Roman" panose="02020603050405020304" pitchFamily="18" charset="0"/>
                  <a:cs typeface="Times New Roman" panose="02020603050405020304" pitchFamily="18" charset="0"/>
                </a:rPr>
                <a:t>with only </a:t>
              </a:r>
              <a:r>
                <a:rPr lang="en-US" sz="1600" b="1" dirty="0">
                  <a:solidFill>
                    <a:schemeClr val="bg1"/>
                  </a:solidFill>
                  <a:effectLst/>
                  <a:latin typeface="Times New Roman" panose="02020603050405020304" pitchFamily="18" charset="0"/>
                  <a:cs typeface="Times New Roman" panose="02020603050405020304" pitchFamily="18" charset="0"/>
                </a:rPr>
                <a:t>59</a:t>
              </a:r>
              <a:r>
                <a:rPr lang="en-US" sz="1600" dirty="0">
                  <a:solidFill>
                    <a:schemeClr val="bg1"/>
                  </a:solidFill>
                  <a:effectLst/>
                  <a:latin typeface="Times New Roman" panose="02020603050405020304" pitchFamily="18" charset="0"/>
                  <a:cs typeface="Times New Roman" panose="02020603050405020304" pitchFamily="18" charset="0"/>
                </a:rPr>
                <a:t> commodities. High prices here aren’t about variety.</a:t>
              </a: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Asia</a:t>
              </a:r>
              <a:r>
                <a:rPr lang="en-US" sz="1600" dirty="0">
                  <a:solidFill>
                    <a:schemeClr val="bg1"/>
                  </a:solidFill>
                  <a:effectLst/>
                  <a:latin typeface="Times New Roman" panose="02020603050405020304" pitchFamily="18" charset="0"/>
                  <a:cs typeface="Times New Roman" panose="02020603050405020304" pitchFamily="18" charset="0"/>
                </a:rPr>
                <a:t> follows at </a:t>
              </a:r>
              <a:r>
                <a:rPr lang="en-US" sz="1600" b="1" dirty="0">
                  <a:solidFill>
                    <a:schemeClr val="bg1"/>
                  </a:solidFill>
                  <a:effectLst/>
                  <a:latin typeface="Times New Roman" panose="02020603050405020304" pitchFamily="18" charset="0"/>
                  <a:cs typeface="Times New Roman" panose="02020603050405020304" pitchFamily="18" charset="0"/>
                </a:rPr>
                <a:t>$2.79M </a:t>
              </a:r>
              <a:r>
                <a:rPr lang="en-US" sz="1600" dirty="0">
                  <a:solidFill>
                    <a:schemeClr val="bg1"/>
                  </a:solidFill>
                  <a:effectLst/>
                  <a:latin typeface="Times New Roman" panose="02020603050405020304" pitchFamily="18" charset="0"/>
                  <a:cs typeface="Times New Roman" panose="02020603050405020304" pitchFamily="18" charset="0"/>
                </a:rPr>
                <a:t>across </a:t>
              </a:r>
              <a:r>
                <a:rPr lang="en-US" sz="1600" b="1" dirty="0">
                  <a:solidFill>
                    <a:schemeClr val="bg1"/>
                  </a:solidFill>
                  <a:effectLst/>
                  <a:latin typeface="Times New Roman" panose="02020603050405020304" pitchFamily="18" charset="0"/>
                  <a:cs typeface="Times New Roman" panose="02020603050405020304" pitchFamily="18" charset="0"/>
                </a:rPr>
                <a:t>106</a:t>
              </a:r>
              <a:r>
                <a:rPr lang="en-US" sz="1600" dirty="0">
                  <a:solidFill>
                    <a:schemeClr val="bg1"/>
                  </a:solidFill>
                  <a:effectLst/>
                  <a:latin typeface="Times New Roman" panose="02020603050405020304" pitchFamily="18" charset="0"/>
                  <a:cs typeface="Times New Roman" panose="02020603050405020304" pitchFamily="18" charset="0"/>
                </a:rPr>
                <a:t> commodities. Still fewer items, but strong price levels.</a:t>
              </a: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Africa</a:t>
              </a:r>
              <a:r>
                <a:rPr lang="en-US" sz="1600" dirty="0">
                  <a:solidFill>
                    <a:schemeClr val="bg1"/>
                  </a:solidFill>
                  <a:effectLst/>
                  <a:latin typeface="Times New Roman" panose="02020603050405020304" pitchFamily="18" charset="0"/>
                  <a:cs typeface="Times New Roman" panose="02020603050405020304" pitchFamily="18" charset="0"/>
                </a:rPr>
                <a:t> averages </a:t>
              </a:r>
              <a:r>
                <a:rPr lang="en-US" sz="1600" b="1" dirty="0">
                  <a:solidFill>
                    <a:schemeClr val="bg1"/>
                  </a:solidFill>
                  <a:effectLst/>
                  <a:latin typeface="Times New Roman" panose="02020603050405020304" pitchFamily="18" charset="0"/>
                  <a:cs typeface="Times New Roman" panose="02020603050405020304" pitchFamily="18" charset="0"/>
                </a:rPr>
                <a:t>$1.01M </a:t>
              </a:r>
              <a:r>
                <a:rPr lang="en-US" sz="1600" dirty="0">
                  <a:solidFill>
                    <a:schemeClr val="bg1"/>
                  </a:solidFill>
                  <a:effectLst/>
                  <a:latin typeface="Times New Roman" panose="02020603050405020304" pitchFamily="18" charset="0"/>
                  <a:cs typeface="Times New Roman" panose="02020603050405020304" pitchFamily="18" charset="0"/>
                </a:rPr>
                <a:t>with the widest range,</a:t>
              </a:r>
              <a:r>
                <a:rPr lang="en-US" sz="1600" b="1" dirty="0">
                  <a:solidFill>
                    <a:schemeClr val="bg1"/>
                  </a:solidFill>
                  <a:effectLst/>
                  <a:latin typeface="Times New Roman" panose="02020603050405020304" pitchFamily="18" charset="0"/>
                  <a:cs typeface="Times New Roman" panose="02020603050405020304" pitchFamily="18" charset="0"/>
                </a:rPr>
                <a:t>124</a:t>
              </a:r>
              <a:r>
                <a:rPr lang="en-US" sz="1600" dirty="0">
                  <a:solidFill>
                    <a:schemeClr val="bg1"/>
                  </a:solidFill>
                  <a:effectLst/>
                  <a:latin typeface="Times New Roman" panose="02020603050405020304" pitchFamily="18" charset="0"/>
                  <a:cs typeface="Times New Roman" panose="02020603050405020304" pitchFamily="18" charset="0"/>
                </a:rPr>
                <a:t> commodities. More varieties, yet lower prices.</a:t>
              </a: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Europe</a:t>
              </a:r>
              <a:r>
                <a:rPr lang="en-US" sz="1600" dirty="0">
                  <a:solidFill>
                    <a:schemeClr val="bg1"/>
                  </a:solidFill>
                  <a:effectLst/>
                  <a:latin typeface="Times New Roman" panose="02020603050405020304" pitchFamily="18" charset="0"/>
                  <a:cs typeface="Times New Roman" panose="02020603050405020304" pitchFamily="18" charset="0"/>
                </a:rPr>
                <a:t> shows </a:t>
              </a:r>
              <a:r>
                <a:rPr lang="en-US" sz="1600" b="1" dirty="0">
                  <a:solidFill>
                    <a:schemeClr val="bg1"/>
                  </a:solidFill>
                  <a:effectLst/>
                  <a:latin typeface="Times New Roman" panose="02020603050405020304" pitchFamily="18" charset="0"/>
                  <a:cs typeface="Times New Roman" panose="02020603050405020304" pitchFamily="18" charset="0"/>
                </a:rPr>
                <a:t>$689 </a:t>
              </a:r>
              <a:r>
                <a:rPr lang="en-US" sz="1600" dirty="0">
                  <a:solidFill>
                    <a:schemeClr val="bg1"/>
                  </a:solidFill>
                  <a:effectLst/>
                  <a:latin typeface="Times New Roman" panose="02020603050405020304" pitchFamily="18" charset="0"/>
                  <a:cs typeface="Times New Roman" panose="02020603050405020304" pitchFamily="18" charset="0"/>
                </a:rPr>
                <a:t>from </a:t>
              </a:r>
              <a:r>
                <a:rPr lang="en-US" sz="1600" b="1" dirty="0">
                  <a:solidFill>
                    <a:schemeClr val="bg1"/>
                  </a:solidFill>
                  <a:effectLst/>
                  <a:latin typeface="Times New Roman" panose="02020603050405020304" pitchFamily="18" charset="0"/>
                  <a:cs typeface="Times New Roman" panose="02020603050405020304" pitchFamily="18" charset="0"/>
                </a:rPr>
                <a:t>17</a:t>
              </a:r>
              <a:r>
                <a:rPr lang="en-US" sz="1600" dirty="0">
                  <a:solidFill>
                    <a:schemeClr val="bg1"/>
                  </a:solidFill>
                  <a:effectLst/>
                  <a:latin typeface="Times New Roman" panose="02020603050405020304" pitchFamily="18" charset="0"/>
                  <a:cs typeface="Times New Roman" panose="02020603050405020304" pitchFamily="18" charset="0"/>
                </a:rPr>
                <a:t> commodities. Too little data to reflect real markets.</a:t>
              </a: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North America </a:t>
              </a:r>
              <a:r>
                <a:rPr lang="en-US" sz="1600" dirty="0">
                  <a:solidFill>
                    <a:schemeClr val="bg1"/>
                  </a:solidFill>
                  <a:effectLst/>
                  <a:latin typeface="Times New Roman" panose="02020603050405020304" pitchFamily="18" charset="0"/>
                  <a:cs typeface="Times New Roman" panose="02020603050405020304" pitchFamily="18" charset="0"/>
                </a:rPr>
                <a:t>records </a:t>
              </a:r>
              <a:r>
                <a:rPr lang="en-US" sz="1600" b="1" dirty="0">
                  <a:solidFill>
                    <a:schemeClr val="bg1"/>
                  </a:solidFill>
                  <a:effectLst/>
                  <a:latin typeface="Times New Roman" panose="02020603050405020304" pitchFamily="18" charset="0"/>
                  <a:cs typeface="Times New Roman" panose="02020603050405020304" pitchFamily="18" charset="0"/>
                </a:rPr>
                <a:t>$245 </a:t>
              </a:r>
              <a:r>
                <a:rPr lang="en-US" sz="1600" dirty="0">
                  <a:solidFill>
                    <a:schemeClr val="bg1"/>
                  </a:solidFill>
                  <a:effectLst/>
                  <a:latin typeface="Times New Roman" panose="02020603050405020304" pitchFamily="18" charset="0"/>
                  <a:cs typeface="Times New Roman" panose="02020603050405020304" pitchFamily="18" charset="0"/>
                </a:rPr>
                <a:t>with just </a:t>
              </a:r>
              <a:r>
                <a:rPr lang="en-US" sz="1600" b="1" dirty="0">
                  <a:solidFill>
                    <a:schemeClr val="bg1"/>
                  </a:solidFill>
                  <a:effectLst/>
                  <a:latin typeface="Times New Roman" panose="02020603050405020304" pitchFamily="18" charset="0"/>
                  <a:cs typeface="Times New Roman" panose="02020603050405020304" pitchFamily="18" charset="0"/>
                </a:rPr>
                <a:t>8</a:t>
              </a:r>
              <a:r>
                <a:rPr lang="en-US" sz="1600" dirty="0">
                  <a:solidFill>
                    <a:schemeClr val="bg1"/>
                  </a:solidFill>
                  <a:effectLst/>
                  <a:latin typeface="Times New Roman" panose="02020603050405020304" pitchFamily="18" charset="0"/>
                  <a:cs typeface="Times New Roman" panose="02020603050405020304" pitchFamily="18" charset="0"/>
                </a:rPr>
                <a:t> commodities. Also not meaningful..</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562E3C74-C9A8-4A97-BE57-F4683148B5BD}"/>
                </a:ext>
              </a:extLst>
            </p:cNvPr>
            <p:cNvSpPr txBox="1"/>
            <p:nvPr/>
          </p:nvSpPr>
          <p:spPr>
            <a:xfrm>
              <a:off x="9000391" y="3105339"/>
              <a:ext cx="2945422" cy="3539430"/>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South America and Asia</a:t>
              </a:r>
              <a:r>
                <a:rPr lang="en-US" sz="1600" b="1" dirty="0">
                  <a:solidFill>
                    <a:schemeClr val="bg1"/>
                  </a:solidFill>
                  <a:latin typeface="Times New Roman" panose="02020603050405020304" pitchFamily="18" charset="0"/>
                  <a:cs typeface="Times New Roman" panose="02020603050405020304" pitchFamily="18" charset="0"/>
                </a:rPr>
                <a:t> </a:t>
              </a:r>
              <a:r>
                <a:rPr lang="en-US" sz="1600" dirty="0">
                  <a:solidFill>
                    <a:schemeClr val="bg1"/>
                  </a:solidFill>
                  <a:effectLst/>
                  <a:latin typeface="Times New Roman" panose="02020603050405020304" pitchFamily="18" charset="0"/>
                  <a:cs typeface="Times New Roman" panose="02020603050405020304" pitchFamily="18" charset="0"/>
                </a:rPr>
                <a:t>currencies’ are stronger and more stable against the US Dollar. When prices are converted, they keep more of their value. That’s why average food prices look higher in these regions.</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African</a:t>
              </a:r>
              <a:r>
                <a:rPr lang="en-US" sz="1600" dirty="0">
                  <a:solidFill>
                    <a:schemeClr val="bg1"/>
                  </a:solidFill>
                  <a:effectLst/>
                  <a:latin typeface="Times New Roman" panose="02020603050405020304" pitchFamily="18" charset="0"/>
                  <a:cs typeface="Times New Roman" panose="02020603050405020304" pitchFamily="18" charset="0"/>
                </a:rPr>
                <a:t> currencies are weaker against the Dollar. This makes converted prices look lower, even though the real cost for local people may be heavier than it appears.</a:t>
              </a:r>
              <a:endParaRPr lang="en-US" sz="1600" dirty="0">
                <a:solidFill>
                  <a:schemeClr val="bg1"/>
                </a:solidFill>
                <a:latin typeface="Times New Roman" panose="02020603050405020304" pitchFamily="18" charset="0"/>
                <a:cs typeface="Times New Roman" panose="02020603050405020304" pitchFamily="18" charset="0"/>
              </a:endParaRPr>
            </a:p>
          </p:txBody>
        </p:sp>
      </p:grpSp>
      <p:sp>
        <p:nvSpPr>
          <p:cNvPr id="26" name="TextBox 25">
            <a:extLst>
              <a:ext uri="{FF2B5EF4-FFF2-40B4-BE49-F238E27FC236}">
                <a16:creationId xmlns:a16="http://schemas.microsoft.com/office/drawing/2014/main" id="{315EED7A-5E90-4445-8F54-A14BC174E20D}"/>
              </a:ext>
            </a:extLst>
          </p:cNvPr>
          <p:cNvSpPr txBox="1"/>
          <p:nvPr/>
        </p:nvSpPr>
        <p:spPr>
          <a:xfrm>
            <a:off x="5288755" y="2334980"/>
            <a:ext cx="1695451" cy="461665"/>
          </a:xfrm>
          <a:prstGeom prst="rect">
            <a:avLst/>
          </a:prstGeom>
          <a:noFill/>
        </p:spPr>
        <p:txBody>
          <a:bodyPr wrap="square" rtlCol="0">
            <a:spAutoFit/>
          </a:bodyPr>
          <a:lstStyle/>
          <a:p>
            <a:r>
              <a:rPr lang="en-US" sz="2400" b="1" dirty="0">
                <a:solidFill>
                  <a:schemeClr val="bg1"/>
                </a:solidFill>
                <a:highlight>
                  <a:srgbClr val="00FFFF"/>
                </a:highlight>
                <a:latin typeface="Times New Roman" panose="02020603050405020304" pitchFamily="18" charset="0"/>
                <a:cs typeface="Times New Roman" panose="02020603050405020304" pitchFamily="18" charset="0"/>
              </a:rPr>
              <a:t>Continents</a:t>
            </a:r>
          </a:p>
        </p:txBody>
      </p:sp>
    </p:spTree>
    <p:extLst>
      <p:ext uri="{BB962C8B-B14F-4D97-AF65-F5344CB8AC3E}">
        <p14:creationId xmlns:p14="http://schemas.microsoft.com/office/powerpoint/2010/main" val="6375009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B105774D-DDE6-4714-9B82-92873BE63CFD}"/>
              </a:ext>
            </a:extLst>
          </p:cNvPr>
          <p:cNvGrpSpPr/>
          <p:nvPr/>
        </p:nvGrpSpPr>
        <p:grpSpPr>
          <a:xfrm>
            <a:off x="159451" y="500406"/>
            <a:ext cx="11873098" cy="3354765"/>
            <a:chOff x="159451" y="500406"/>
            <a:chExt cx="11873098" cy="3354765"/>
          </a:xfrm>
        </p:grpSpPr>
        <p:pic>
          <p:nvPicPr>
            <p:cNvPr id="3" name="Picture 2">
              <a:extLst>
                <a:ext uri="{FF2B5EF4-FFF2-40B4-BE49-F238E27FC236}">
                  <a16:creationId xmlns:a16="http://schemas.microsoft.com/office/drawing/2014/main" id="{3BE4ACA8-A6B3-47A7-A25D-D9C8DF3E4072}"/>
                </a:ext>
              </a:extLst>
            </p:cNvPr>
            <p:cNvPicPr>
              <a:picLocks noChangeAspect="1"/>
            </p:cNvPicPr>
            <p:nvPr/>
          </p:nvPicPr>
          <p:blipFill>
            <a:blip r:embed="rId2"/>
            <a:stretch>
              <a:fillRect/>
            </a:stretch>
          </p:blipFill>
          <p:spPr>
            <a:xfrm>
              <a:off x="159451" y="608587"/>
              <a:ext cx="3897208" cy="2970470"/>
            </a:xfrm>
            <a:prstGeom prst="rect">
              <a:avLst/>
            </a:prstGeom>
          </p:spPr>
        </p:pic>
        <p:sp>
          <p:nvSpPr>
            <p:cNvPr id="6" name="TextBox 5">
              <a:extLst>
                <a:ext uri="{FF2B5EF4-FFF2-40B4-BE49-F238E27FC236}">
                  <a16:creationId xmlns:a16="http://schemas.microsoft.com/office/drawing/2014/main" id="{968E5BA2-F77F-4DAF-A323-8653982B61CF}"/>
                </a:ext>
              </a:extLst>
            </p:cNvPr>
            <p:cNvSpPr txBox="1"/>
            <p:nvPr/>
          </p:nvSpPr>
          <p:spPr>
            <a:xfrm>
              <a:off x="4189359" y="500406"/>
              <a:ext cx="4250440" cy="3354765"/>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Indonesia</a:t>
              </a:r>
            </a:p>
            <a:p>
              <a:r>
                <a:rPr lang="en-US" sz="1600" dirty="0">
                  <a:solidFill>
                    <a:schemeClr val="bg1"/>
                  </a:solidFill>
                  <a:effectLst/>
                  <a:latin typeface="Times New Roman" panose="02020603050405020304" pitchFamily="18" charset="0"/>
                  <a:cs typeface="Times New Roman" panose="02020603050405020304" pitchFamily="18" charset="0"/>
                </a:rPr>
                <a:t>Indonesia is the biggest outlier. Its average food price is </a:t>
              </a:r>
              <a:r>
                <a:rPr lang="en-US" sz="1600" b="1" dirty="0">
                  <a:solidFill>
                    <a:schemeClr val="bg1"/>
                  </a:solidFill>
                  <a:effectLst/>
                  <a:latin typeface="Times New Roman" panose="02020603050405020304" pitchFamily="18" charset="0"/>
                  <a:cs typeface="Times New Roman" panose="02020603050405020304" pitchFamily="18" charset="0"/>
                </a:rPr>
                <a:t>$326.58M</a:t>
              </a:r>
              <a:r>
                <a:rPr lang="en-US" sz="1600" dirty="0">
                  <a:solidFill>
                    <a:schemeClr val="bg1"/>
                  </a:solidFill>
                  <a:effectLst/>
                  <a:latin typeface="Times New Roman" panose="02020603050405020304" pitchFamily="18" charset="0"/>
                  <a:cs typeface="Times New Roman" panose="02020603050405020304" pitchFamily="18" charset="0"/>
                </a:rPr>
                <a:t>, far above everyone else. This points to either very high price levels or unusual values that need closer review.</a:t>
              </a:r>
            </a:p>
            <a:p>
              <a:pPr marL="285750" indent="-285750">
                <a:buFont typeface="Wingdings" panose="05000000000000000000" pitchFamily="2" charset="2"/>
                <a:buChar char="Ø"/>
              </a:pPr>
              <a:r>
                <a:rPr lang="en-US" b="1" dirty="0">
                  <a:solidFill>
                    <a:schemeClr val="bg1"/>
                  </a:solidFill>
                  <a:effectLst/>
                  <a:latin typeface="Times New Roman" panose="02020603050405020304" pitchFamily="18" charset="0"/>
                  <a:cs typeface="Times New Roman" panose="02020603050405020304" pitchFamily="18" charset="0"/>
                </a:rPr>
                <a:t>Gap to Guinea  </a:t>
              </a:r>
            </a:p>
            <a:p>
              <a:r>
                <a:rPr lang="en-US" sz="1600" dirty="0">
                  <a:solidFill>
                    <a:schemeClr val="bg1"/>
                  </a:solidFill>
                  <a:effectLst/>
                  <a:latin typeface="Times New Roman" panose="02020603050405020304" pitchFamily="18" charset="0"/>
                  <a:cs typeface="Times New Roman" panose="02020603050405020304" pitchFamily="18" charset="0"/>
                </a:rPr>
                <a:t>Second place is Guinea at </a:t>
              </a:r>
              <a:r>
                <a:rPr lang="en-US" sz="1600" b="1" dirty="0">
                  <a:solidFill>
                    <a:schemeClr val="bg1"/>
                  </a:solidFill>
                  <a:effectLst/>
                  <a:latin typeface="Times New Roman" panose="02020603050405020304" pitchFamily="18" charset="0"/>
                  <a:cs typeface="Times New Roman" panose="02020603050405020304" pitchFamily="18" charset="0"/>
                </a:rPr>
                <a:t>$64.10M</a:t>
              </a:r>
              <a:r>
                <a:rPr lang="en-US" sz="1600" dirty="0">
                  <a:solidFill>
                    <a:schemeClr val="bg1"/>
                  </a:solidFill>
                  <a:effectLst/>
                  <a:latin typeface="Times New Roman" panose="02020603050405020304" pitchFamily="18" charset="0"/>
                  <a:cs typeface="Times New Roman" panose="02020603050405020304" pitchFamily="18" charset="0"/>
                </a:rPr>
                <a:t>. That’s a drop of more than </a:t>
              </a:r>
              <a:r>
                <a:rPr lang="en-US" sz="1600" b="1" dirty="0">
                  <a:solidFill>
                    <a:schemeClr val="bg1"/>
                  </a:solidFill>
                  <a:effectLst/>
                  <a:latin typeface="Times New Roman" panose="02020603050405020304" pitchFamily="18" charset="0"/>
                  <a:cs typeface="Times New Roman" panose="02020603050405020304" pitchFamily="18" charset="0"/>
                </a:rPr>
                <a:t>$262M </a:t>
              </a:r>
              <a:r>
                <a:rPr lang="en-US" sz="1600" dirty="0">
                  <a:solidFill>
                    <a:schemeClr val="bg1"/>
                  </a:solidFill>
                  <a:effectLst/>
                  <a:latin typeface="Times New Roman" panose="02020603050405020304" pitchFamily="18" charset="0"/>
                  <a:cs typeface="Times New Roman" panose="02020603050405020304" pitchFamily="18" charset="0"/>
                </a:rPr>
                <a:t>compared to Indonesia. The gap between the top two is huge.</a:t>
              </a:r>
            </a:p>
            <a:p>
              <a:pPr marL="285750" indent="-285750">
                <a:buFont typeface="Wingdings" panose="05000000000000000000" pitchFamily="2" charset="2"/>
                <a:buChar char="Ø"/>
              </a:pPr>
              <a:r>
                <a:rPr lang="en-US" b="1" dirty="0">
                  <a:solidFill>
                    <a:schemeClr val="bg1"/>
                  </a:solidFill>
                  <a:effectLst/>
                  <a:latin typeface="Times New Roman" panose="02020603050405020304" pitchFamily="18" charset="0"/>
                  <a:cs typeface="Times New Roman" panose="02020603050405020304" pitchFamily="18" charset="0"/>
                </a:rPr>
                <a:t>Top five  </a:t>
              </a:r>
            </a:p>
            <a:p>
              <a:r>
                <a:rPr lang="en-US" sz="1600" dirty="0">
                  <a:solidFill>
                    <a:schemeClr val="bg1"/>
                  </a:solidFill>
                  <a:effectLst/>
                  <a:latin typeface="Times New Roman" panose="02020603050405020304" pitchFamily="18" charset="0"/>
                  <a:cs typeface="Times New Roman" panose="02020603050405020304" pitchFamily="18" charset="0"/>
                </a:rPr>
                <a:t>Indonesia, Guinea, Cambodia, Cameroon, and Colombia dominate the ranking. Their prices are much higher than the rest.</a:t>
              </a:r>
            </a:p>
          </p:txBody>
        </p:sp>
        <p:sp>
          <p:nvSpPr>
            <p:cNvPr id="9" name="TextBox 8">
              <a:extLst>
                <a:ext uri="{FF2B5EF4-FFF2-40B4-BE49-F238E27FC236}">
                  <a16:creationId xmlns:a16="http://schemas.microsoft.com/office/drawing/2014/main" id="{CDF79BD1-8FAB-4F07-A230-05F6F1268A34}"/>
                </a:ext>
              </a:extLst>
            </p:cNvPr>
            <p:cNvSpPr txBox="1"/>
            <p:nvPr/>
          </p:nvSpPr>
          <p:spPr>
            <a:xfrm>
              <a:off x="8572500" y="500406"/>
              <a:ext cx="3460049" cy="3293209"/>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Rapid decline  </a:t>
              </a:r>
            </a:p>
            <a:p>
              <a:r>
                <a:rPr lang="en-US" sz="1600" dirty="0">
                  <a:solidFill>
                    <a:schemeClr val="bg1"/>
                  </a:solidFill>
                  <a:effectLst/>
                  <a:latin typeface="Times New Roman" panose="02020603050405020304" pitchFamily="18" charset="0"/>
                  <a:cs typeface="Times New Roman" panose="02020603050405020304" pitchFamily="18" charset="0"/>
                </a:rPr>
                <a:t>After the leaders, prices fall fast. From Indonesia’s $326.58M down to Rwanda’s $377,059 in 15th place, the difference is steep and uneven.</a:t>
              </a: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Disparity</a:t>
              </a:r>
              <a:r>
                <a:rPr lang="en-US" sz="1600" dirty="0">
                  <a:solidFill>
                    <a:schemeClr val="bg1"/>
                  </a:solidFill>
                  <a:effectLst/>
                  <a:latin typeface="Times New Roman" panose="02020603050405020304" pitchFamily="18" charset="0"/>
                  <a:cs typeface="Times New Roman" panose="02020603050405020304" pitchFamily="18" charset="0"/>
                </a:rPr>
                <a:t>  </a:t>
              </a:r>
            </a:p>
            <a:p>
              <a:r>
                <a:rPr lang="en-US" sz="1600" dirty="0">
                  <a:solidFill>
                    <a:schemeClr val="bg1"/>
                  </a:solidFill>
                  <a:effectLst/>
                  <a:latin typeface="Times New Roman" panose="02020603050405020304" pitchFamily="18" charset="0"/>
                  <a:cs typeface="Times New Roman" panose="02020603050405020304" pitchFamily="18" charset="0"/>
                </a:rPr>
                <a:t>Food prices are not evenly spread. They vary a lot from one country to another.</a:t>
              </a: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Middle ranks  </a:t>
              </a:r>
            </a:p>
            <a:p>
              <a:r>
                <a:rPr lang="en-US" sz="1600" dirty="0">
                  <a:solidFill>
                    <a:schemeClr val="bg1"/>
                  </a:solidFill>
                  <a:effectLst/>
                  <a:latin typeface="Times New Roman" panose="02020603050405020304" pitchFamily="18" charset="0"/>
                  <a:cs typeface="Times New Roman" panose="02020603050405020304" pitchFamily="18" charset="0"/>
                </a:rPr>
                <a:t>Countries ranked around 10th to 15th are closer in value. The biggest differences are concentrated at the very top.</a:t>
              </a:r>
              <a:endParaRPr lang="en-US" sz="1600" dirty="0">
                <a:solidFill>
                  <a:schemeClr val="bg1"/>
                </a:solidFill>
                <a:latin typeface="Times New Roman" panose="02020603050405020304" pitchFamily="18" charset="0"/>
                <a:cs typeface="Times New Roman" panose="02020603050405020304" pitchFamily="18" charset="0"/>
              </a:endParaRPr>
            </a:p>
          </p:txBody>
        </p:sp>
      </p:grpSp>
      <p:sp>
        <p:nvSpPr>
          <p:cNvPr id="19" name="TextBox 18">
            <a:extLst>
              <a:ext uri="{FF2B5EF4-FFF2-40B4-BE49-F238E27FC236}">
                <a16:creationId xmlns:a16="http://schemas.microsoft.com/office/drawing/2014/main" id="{A72F4C0D-326E-4DC3-B374-DF7D4DE999B6}"/>
              </a:ext>
            </a:extLst>
          </p:cNvPr>
          <p:cNvSpPr txBox="1"/>
          <p:nvPr/>
        </p:nvSpPr>
        <p:spPr>
          <a:xfrm>
            <a:off x="5320901" y="14077"/>
            <a:ext cx="1550195" cy="461665"/>
          </a:xfrm>
          <a:prstGeom prst="rect">
            <a:avLst/>
          </a:prstGeom>
          <a:noFill/>
        </p:spPr>
        <p:txBody>
          <a:bodyPr wrap="square" rtlCol="0">
            <a:spAutoFit/>
          </a:bodyPr>
          <a:lstStyle/>
          <a:p>
            <a:r>
              <a:rPr lang="en-US" sz="2400" b="1" dirty="0">
                <a:solidFill>
                  <a:schemeClr val="bg1"/>
                </a:solidFill>
                <a:highlight>
                  <a:srgbClr val="00FFFF"/>
                </a:highlight>
                <a:latin typeface="Times New Roman" panose="02020603050405020304" pitchFamily="18" charset="0"/>
                <a:cs typeface="Times New Roman" panose="02020603050405020304" pitchFamily="18" charset="0"/>
              </a:rPr>
              <a:t>Countries</a:t>
            </a:r>
          </a:p>
        </p:txBody>
      </p:sp>
      <p:sp>
        <p:nvSpPr>
          <p:cNvPr id="20" name="TextBox 19">
            <a:extLst>
              <a:ext uri="{FF2B5EF4-FFF2-40B4-BE49-F238E27FC236}">
                <a16:creationId xmlns:a16="http://schemas.microsoft.com/office/drawing/2014/main" id="{D440D143-F7E3-4BFE-A4AB-83A5F6A91624}"/>
              </a:ext>
            </a:extLst>
          </p:cNvPr>
          <p:cNvSpPr txBox="1"/>
          <p:nvPr/>
        </p:nvSpPr>
        <p:spPr>
          <a:xfrm>
            <a:off x="5444726" y="4244011"/>
            <a:ext cx="1918099" cy="461665"/>
          </a:xfrm>
          <a:prstGeom prst="rect">
            <a:avLst/>
          </a:prstGeom>
          <a:noFill/>
        </p:spPr>
        <p:txBody>
          <a:bodyPr wrap="square" rtlCol="0">
            <a:spAutoFit/>
          </a:bodyPr>
          <a:lstStyle/>
          <a:p>
            <a:r>
              <a:rPr lang="en-US" sz="2400" b="1" dirty="0">
                <a:solidFill>
                  <a:schemeClr val="bg1"/>
                </a:solidFill>
                <a:highlight>
                  <a:srgbClr val="00FFFF"/>
                </a:highlight>
                <a:latin typeface="Times New Roman" panose="02020603050405020304" pitchFamily="18" charset="0"/>
                <a:cs typeface="Times New Roman" panose="02020603050405020304" pitchFamily="18" charset="0"/>
              </a:rPr>
              <a:t>Commodities</a:t>
            </a:r>
          </a:p>
        </p:txBody>
      </p:sp>
      <p:pic>
        <p:nvPicPr>
          <p:cNvPr id="22" name="Picture 21">
            <a:extLst>
              <a:ext uri="{FF2B5EF4-FFF2-40B4-BE49-F238E27FC236}">
                <a16:creationId xmlns:a16="http://schemas.microsoft.com/office/drawing/2014/main" id="{8D0EDF03-EFC5-4A97-B057-19C13D34B4A2}"/>
              </a:ext>
            </a:extLst>
          </p:cNvPr>
          <p:cNvPicPr>
            <a:picLocks noChangeAspect="1"/>
          </p:cNvPicPr>
          <p:nvPr/>
        </p:nvPicPr>
        <p:blipFill>
          <a:blip r:embed="rId3"/>
          <a:stretch>
            <a:fillRect/>
          </a:stretch>
        </p:blipFill>
        <p:spPr>
          <a:xfrm>
            <a:off x="159451" y="4474843"/>
            <a:ext cx="3865624" cy="2282561"/>
          </a:xfrm>
          <a:prstGeom prst="rect">
            <a:avLst/>
          </a:prstGeom>
        </p:spPr>
      </p:pic>
      <p:sp>
        <p:nvSpPr>
          <p:cNvPr id="24" name="TextBox 23">
            <a:extLst>
              <a:ext uri="{FF2B5EF4-FFF2-40B4-BE49-F238E27FC236}">
                <a16:creationId xmlns:a16="http://schemas.microsoft.com/office/drawing/2014/main" id="{13BCB5FB-141E-46DC-9558-B8449D44042B}"/>
              </a:ext>
            </a:extLst>
          </p:cNvPr>
          <p:cNvSpPr txBox="1"/>
          <p:nvPr/>
        </p:nvSpPr>
        <p:spPr>
          <a:xfrm>
            <a:off x="4189359" y="5187312"/>
            <a:ext cx="4250440" cy="1323439"/>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Significant price drop between Fish (</a:t>
            </a:r>
            <a:r>
              <a:rPr lang="en-US" sz="1600" b="1" dirty="0">
                <a:solidFill>
                  <a:schemeClr val="bg1"/>
                </a:solidFill>
                <a:latin typeface="Times New Roman" panose="02020603050405020304" pitchFamily="18" charset="0"/>
                <a:cs typeface="Times New Roman" panose="02020603050405020304" pitchFamily="18" charset="0"/>
              </a:rPr>
              <a:t>$222.66 M</a:t>
            </a:r>
            <a:r>
              <a:rPr lang="en-US" sz="1600" dirty="0">
                <a:solidFill>
                  <a:schemeClr val="bg1"/>
                </a:solidFill>
                <a:latin typeface="Times New Roman" panose="02020603050405020304" pitchFamily="18" charset="0"/>
                <a:cs typeface="Times New Roman" panose="02020603050405020304" pitchFamily="18" charset="0"/>
              </a:rPr>
              <a:t>) and Eggs (</a:t>
            </a:r>
            <a:r>
              <a:rPr lang="en-US" sz="1600" b="1" dirty="0">
                <a:solidFill>
                  <a:schemeClr val="bg1"/>
                </a:solidFill>
                <a:latin typeface="Times New Roman" panose="02020603050405020304" pitchFamily="18" charset="0"/>
                <a:cs typeface="Times New Roman" panose="02020603050405020304" pitchFamily="18" charset="0"/>
              </a:rPr>
              <a:t>97.29 M</a:t>
            </a:r>
            <a:r>
              <a:rPr lang="en-US" sz="1600" dirty="0">
                <a:solidFill>
                  <a:schemeClr val="bg1"/>
                </a:solidFill>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Ø"/>
            </a:pPr>
            <a:r>
              <a:rPr lang="en-US" sz="1600" b="1" dirty="0">
                <a:solidFill>
                  <a:schemeClr val="bg1"/>
                </a:solidFill>
                <a:effectLst/>
                <a:latin typeface="Times New Roman" panose="02020603050405020304" pitchFamily="18" charset="0"/>
                <a:cs typeface="Times New Roman" panose="02020603050405020304" pitchFamily="18" charset="0"/>
              </a:rPr>
              <a:t>L</a:t>
            </a:r>
            <a:r>
              <a:rPr lang="en-US" sz="1600" b="1" dirty="0">
                <a:solidFill>
                  <a:schemeClr val="bg1"/>
                </a:solidFill>
                <a:latin typeface="Times New Roman" panose="02020603050405020304" pitchFamily="18" charset="0"/>
                <a:cs typeface="Times New Roman" panose="02020603050405020304" pitchFamily="18" charset="0"/>
              </a:rPr>
              <a:t>ower Price Group</a:t>
            </a:r>
          </a:p>
          <a:p>
            <a:r>
              <a:rPr lang="en-US" sz="1600" dirty="0">
                <a:solidFill>
                  <a:schemeClr val="bg1"/>
                </a:solidFill>
                <a:latin typeface="Times New Roman" panose="02020603050405020304" pitchFamily="18" charset="0"/>
                <a:cs typeface="Times New Roman" panose="02020603050405020304" pitchFamily="18" charset="0"/>
              </a:rPr>
              <a:t>Vegetable oil, powdered milk, and yellow peas all record less than </a:t>
            </a:r>
            <a:r>
              <a:rPr lang="en-US" sz="1600" b="1" dirty="0">
                <a:solidFill>
                  <a:schemeClr val="bg1"/>
                </a:solidFill>
                <a:latin typeface="Times New Roman" panose="02020603050405020304" pitchFamily="18" charset="0"/>
                <a:cs typeface="Times New Roman" panose="02020603050405020304" pitchFamily="18" charset="0"/>
              </a:rPr>
              <a:t>$20M</a:t>
            </a:r>
            <a:r>
              <a:rPr lang="en-US" sz="1600" dirty="0">
                <a:solidFill>
                  <a:schemeClr val="bg1"/>
                </a:solidFill>
                <a:latin typeface="Times New Roman" panose="02020603050405020304" pitchFamily="18" charset="0"/>
                <a:cs typeface="Times New Roman" panose="02020603050405020304" pitchFamily="18" charset="0"/>
              </a:rPr>
              <a:t>.</a:t>
            </a:r>
            <a:endParaRPr lang="en-US" sz="1600" dirty="0">
              <a:solidFill>
                <a:schemeClr val="bg1"/>
              </a:solidFill>
              <a:effectLst/>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612B5954-B29E-4A18-8BE5-CE933B822623}"/>
              </a:ext>
            </a:extLst>
          </p:cNvPr>
          <p:cNvSpPr txBox="1"/>
          <p:nvPr/>
        </p:nvSpPr>
        <p:spPr>
          <a:xfrm>
            <a:off x="8931351" y="5315980"/>
            <a:ext cx="2742345" cy="1077218"/>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Prices are highly skewed. </a:t>
            </a:r>
          </a:p>
          <a:p>
            <a:pPr marL="285750" indent="-28575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A few commodities show extremely high averages, while most are much lower.</a:t>
            </a:r>
          </a:p>
        </p:txBody>
      </p:sp>
    </p:spTree>
    <p:extLst>
      <p:ext uri="{BB962C8B-B14F-4D97-AF65-F5344CB8AC3E}">
        <p14:creationId xmlns:p14="http://schemas.microsoft.com/office/powerpoint/2010/main" val="2266641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AE2EA4-86E5-4530-AF08-75068950A635}"/>
              </a:ext>
            </a:extLst>
          </p:cNvPr>
          <p:cNvPicPr>
            <a:picLocks noChangeAspect="1"/>
          </p:cNvPicPr>
          <p:nvPr/>
        </p:nvPicPr>
        <p:blipFill>
          <a:blip r:embed="rId2"/>
          <a:stretch>
            <a:fillRect/>
          </a:stretch>
        </p:blipFill>
        <p:spPr>
          <a:xfrm>
            <a:off x="5972175" y="504161"/>
            <a:ext cx="6219825" cy="2184457"/>
          </a:xfrm>
          <a:prstGeom prst="rect">
            <a:avLst/>
          </a:prstGeom>
        </p:spPr>
      </p:pic>
      <p:sp>
        <p:nvSpPr>
          <p:cNvPr id="4" name="TextBox 3">
            <a:extLst>
              <a:ext uri="{FF2B5EF4-FFF2-40B4-BE49-F238E27FC236}">
                <a16:creationId xmlns:a16="http://schemas.microsoft.com/office/drawing/2014/main" id="{0F513950-F89B-4753-ABD4-EA342A15DE40}"/>
              </a:ext>
            </a:extLst>
          </p:cNvPr>
          <p:cNvSpPr txBox="1"/>
          <p:nvPr/>
        </p:nvSpPr>
        <p:spPr>
          <a:xfrm>
            <a:off x="6948678" y="104051"/>
            <a:ext cx="5057775" cy="400110"/>
          </a:xfrm>
          <a:prstGeom prst="rect">
            <a:avLst/>
          </a:prstGeom>
          <a:noFill/>
        </p:spPr>
        <p:txBody>
          <a:bodyPr wrap="square" rtlCol="0">
            <a:spAutoFit/>
          </a:bodyPr>
          <a:lstStyle/>
          <a:p>
            <a:r>
              <a:rPr lang="en-US" sz="2000" b="1" dirty="0">
                <a:highlight>
                  <a:srgbClr val="000000"/>
                </a:highlight>
                <a:latin typeface="Times New Roman" panose="02020603050405020304" pitchFamily="18" charset="0"/>
                <a:cs typeface="Times New Roman" panose="02020603050405020304" pitchFamily="18" charset="0"/>
              </a:rPr>
              <a:t>Drilled to the lowest level of data (Quarter)</a:t>
            </a:r>
          </a:p>
        </p:txBody>
      </p:sp>
      <p:pic>
        <p:nvPicPr>
          <p:cNvPr id="6" name="Picture 5">
            <a:extLst>
              <a:ext uri="{FF2B5EF4-FFF2-40B4-BE49-F238E27FC236}">
                <a16:creationId xmlns:a16="http://schemas.microsoft.com/office/drawing/2014/main" id="{A20637DE-A1C3-4B34-8B1B-9991E17DC298}"/>
              </a:ext>
            </a:extLst>
          </p:cNvPr>
          <p:cNvPicPr>
            <a:picLocks noChangeAspect="1"/>
          </p:cNvPicPr>
          <p:nvPr/>
        </p:nvPicPr>
        <p:blipFill>
          <a:blip r:embed="rId3"/>
          <a:stretch>
            <a:fillRect/>
          </a:stretch>
        </p:blipFill>
        <p:spPr>
          <a:xfrm>
            <a:off x="23819" y="939743"/>
            <a:ext cx="5815460" cy="2221098"/>
          </a:xfrm>
          <a:prstGeom prst="rect">
            <a:avLst/>
          </a:prstGeom>
        </p:spPr>
      </p:pic>
      <p:sp>
        <p:nvSpPr>
          <p:cNvPr id="7" name="TextBox 6">
            <a:extLst>
              <a:ext uri="{FF2B5EF4-FFF2-40B4-BE49-F238E27FC236}">
                <a16:creationId xmlns:a16="http://schemas.microsoft.com/office/drawing/2014/main" id="{C2AE8A86-0A85-4BFA-AF28-C85C398C59F5}"/>
              </a:ext>
            </a:extLst>
          </p:cNvPr>
          <p:cNvSpPr txBox="1"/>
          <p:nvPr/>
        </p:nvSpPr>
        <p:spPr>
          <a:xfrm>
            <a:off x="1690918" y="513999"/>
            <a:ext cx="2885623" cy="400110"/>
          </a:xfrm>
          <a:prstGeom prst="rect">
            <a:avLst/>
          </a:prstGeom>
          <a:noFill/>
        </p:spPr>
        <p:txBody>
          <a:bodyPr wrap="square" rtlCol="0">
            <a:spAutoFit/>
          </a:bodyPr>
          <a:lstStyle/>
          <a:p>
            <a:r>
              <a:rPr lang="en-US" sz="2000" b="1" dirty="0">
                <a:highlight>
                  <a:srgbClr val="000000"/>
                </a:highlight>
                <a:latin typeface="Times New Roman" panose="02020603050405020304" pitchFamily="18" charset="0"/>
                <a:cs typeface="Times New Roman" panose="02020603050405020304" pitchFamily="18" charset="0"/>
              </a:rPr>
              <a:t>Highest level data (Year)</a:t>
            </a:r>
          </a:p>
        </p:txBody>
      </p:sp>
      <p:pic>
        <p:nvPicPr>
          <p:cNvPr id="12" name="Picture 11">
            <a:extLst>
              <a:ext uri="{FF2B5EF4-FFF2-40B4-BE49-F238E27FC236}">
                <a16:creationId xmlns:a16="http://schemas.microsoft.com/office/drawing/2014/main" id="{5E8C47F8-05F7-4F34-AFBA-8A67B87E5E40}"/>
              </a:ext>
            </a:extLst>
          </p:cNvPr>
          <p:cNvPicPr>
            <a:picLocks noChangeAspect="1"/>
          </p:cNvPicPr>
          <p:nvPr/>
        </p:nvPicPr>
        <p:blipFill>
          <a:blip r:embed="rId4"/>
          <a:stretch>
            <a:fillRect/>
          </a:stretch>
        </p:blipFill>
        <p:spPr>
          <a:xfrm>
            <a:off x="0" y="3268829"/>
            <a:ext cx="5839278" cy="1788946"/>
          </a:xfrm>
          <a:prstGeom prst="rect">
            <a:avLst/>
          </a:prstGeom>
        </p:spPr>
      </p:pic>
      <p:pic>
        <p:nvPicPr>
          <p:cNvPr id="13" name="Picture 12">
            <a:extLst>
              <a:ext uri="{FF2B5EF4-FFF2-40B4-BE49-F238E27FC236}">
                <a16:creationId xmlns:a16="http://schemas.microsoft.com/office/drawing/2014/main" id="{7C35DC51-4C4C-4CD7-85FC-66310951DDDD}"/>
              </a:ext>
            </a:extLst>
          </p:cNvPr>
          <p:cNvPicPr>
            <a:picLocks noChangeAspect="1"/>
          </p:cNvPicPr>
          <p:nvPr/>
        </p:nvPicPr>
        <p:blipFill>
          <a:blip r:embed="rId5"/>
          <a:stretch>
            <a:fillRect/>
          </a:stretch>
        </p:blipFill>
        <p:spPr>
          <a:xfrm>
            <a:off x="23819" y="5165763"/>
            <a:ext cx="5815460" cy="1692237"/>
          </a:xfrm>
          <a:prstGeom prst="rect">
            <a:avLst/>
          </a:prstGeom>
        </p:spPr>
      </p:pic>
      <p:pic>
        <p:nvPicPr>
          <p:cNvPr id="15" name="Picture 14">
            <a:extLst>
              <a:ext uri="{FF2B5EF4-FFF2-40B4-BE49-F238E27FC236}">
                <a16:creationId xmlns:a16="http://schemas.microsoft.com/office/drawing/2014/main" id="{0F470222-D511-42DE-AFF1-0FD25E955804}"/>
              </a:ext>
            </a:extLst>
          </p:cNvPr>
          <p:cNvPicPr>
            <a:picLocks noChangeAspect="1"/>
          </p:cNvPicPr>
          <p:nvPr/>
        </p:nvPicPr>
        <p:blipFill>
          <a:blip r:embed="rId6"/>
          <a:stretch>
            <a:fillRect/>
          </a:stretch>
        </p:blipFill>
        <p:spPr>
          <a:xfrm>
            <a:off x="9541192" y="4952835"/>
            <a:ext cx="2270957" cy="1905165"/>
          </a:xfrm>
          <a:prstGeom prst="rect">
            <a:avLst/>
          </a:prstGeom>
        </p:spPr>
      </p:pic>
      <p:pic>
        <p:nvPicPr>
          <p:cNvPr id="17" name="Picture 16">
            <a:extLst>
              <a:ext uri="{FF2B5EF4-FFF2-40B4-BE49-F238E27FC236}">
                <a16:creationId xmlns:a16="http://schemas.microsoft.com/office/drawing/2014/main" id="{98E13856-26AA-46B4-8146-9CDA66AB9E10}"/>
              </a:ext>
            </a:extLst>
          </p:cNvPr>
          <p:cNvPicPr>
            <a:picLocks noChangeAspect="1"/>
          </p:cNvPicPr>
          <p:nvPr/>
        </p:nvPicPr>
        <p:blipFill>
          <a:blip r:embed="rId7"/>
          <a:stretch>
            <a:fillRect/>
          </a:stretch>
        </p:blipFill>
        <p:spPr>
          <a:xfrm>
            <a:off x="6666452" y="5044283"/>
            <a:ext cx="2263336" cy="1813717"/>
          </a:xfrm>
          <a:prstGeom prst="rect">
            <a:avLst/>
          </a:prstGeom>
        </p:spPr>
      </p:pic>
      <p:pic>
        <p:nvPicPr>
          <p:cNvPr id="19" name="Picture 18">
            <a:extLst>
              <a:ext uri="{FF2B5EF4-FFF2-40B4-BE49-F238E27FC236}">
                <a16:creationId xmlns:a16="http://schemas.microsoft.com/office/drawing/2014/main" id="{B6D435D9-6901-474D-B46A-90EB21EB5C2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72175" y="2780297"/>
            <a:ext cx="6219825" cy="2118544"/>
          </a:xfrm>
          <a:prstGeom prst="rect">
            <a:avLst/>
          </a:prstGeom>
        </p:spPr>
      </p:pic>
      <p:sp>
        <p:nvSpPr>
          <p:cNvPr id="20" name="TextBox 19">
            <a:extLst>
              <a:ext uri="{FF2B5EF4-FFF2-40B4-BE49-F238E27FC236}">
                <a16:creationId xmlns:a16="http://schemas.microsoft.com/office/drawing/2014/main" id="{27F18D83-CDF4-4CED-A886-066381BCFD5F}"/>
              </a:ext>
            </a:extLst>
          </p:cNvPr>
          <p:cNvSpPr txBox="1"/>
          <p:nvPr/>
        </p:nvSpPr>
        <p:spPr>
          <a:xfrm>
            <a:off x="4672153" y="-30225"/>
            <a:ext cx="1994299" cy="461665"/>
          </a:xfrm>
          <a:prstGeom prst="rect">
            <a:avLst/>
          </a:prstGeom>
          <a:noFill/>
        </p:spPr>
        <p:txBody>
          <a:bodyPr wrap="square" rtlCol="0">
            <a:spAutoFit/>
          </a:bodyPr>
          <a:lstStyle/>
          <a:p>
            <a:r>
              <a:rPr lang="en-US" sz="2400" b="1" dirty="0">
                <a:solidFill>
                  <a:schemeClr val="bg1"/>
                </a:solidFill>
                <a:highlight>
                  <a:srgbClr val="00FFFF"/>
                </a:highlight>
                <a:latin typeface="Times New Roman" panose="02020603050405020304" pitchFamily="18" charset="0"/>
                <a:cs typeface="Times New Roman" panose="02020603050405020304" pitchFamily="18" charset="0"/>
              </a:rPr>
              <a:t>Time Trends</a:t>
            </a:r>
          </a:p>
        </p:txBody>
      </p:sp>
    </p:spTree>
    <p:extLst>
      <p:ext uri="{BB962C8B-B14F-4D97-AF65-F5344CB8AC3E}">
        <p14:creationId xmlns:p14="http://schemas.microsoft.com/office/powerpoint/2010/main" val="3600138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D3D9E37-29F0-4931-A904-7566520C13BA}"/>
              </a:ext>
            </a:extLst>
          </p:cNvPr>
          <p:cNvSpPr txBox="1"/>
          <p:nvPr/>
        </p:nvSpPr>
        <p:spPr>
          <a:xfrm>
            <a:off x="80117" y="60173"/>
            <a:ext cx="4730008" cy="338554"/>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dirty="0">
                <a:solidFill>
                  <a:schemeClr val="bg1"/>
                </a:solidFill>
              </a:rPr>
              <a:t>When YoY FX rates change, the prices also change.</a:t>
            </a:r>
          </a:p>
        </p:txBody>
      </p:sp>
      <p:sp>
        <p:nvSpPr>
          <p:cNvPr id="9" name="TextBox 8">
            <a:extLst>
              <a:ext uri="{FF2B5EF4-FFF2-40B4-BE49-F238E27FC236}">
                <a16:creationId xmlns:a16="http://schemas.microsoft.com/office/drawing/2014/main" id="{2800C9BE-6864-41BB-8537-D85393518D77}"/>
              </a:ext>
            </a:extLst>
          </p:cNvPr>
          <p:cNvSpPr txBox="1"/>
          <p:nvPr/>
        </p:nvSpPr>
        <p:spPr>
          <a:xfrm>
            <a:off x="5384602" y="349318"/>
            <a:ext cx="1422798" cy="461665"/>
          </a:xfrm>
          <a:prstGeom prst="rect">
            <a:avLst/>
          </a:prstGeom>
          <a:noFill/>
        </p:spPr>
        <p:txBody>
          <a:bodyPr wrap="square" rtlCol="0">
            <a:spAutoFit/>
          </a:bodyPr>
          <a:lstStyle/>
          <a:p>
            <a:r>
              <a:rPr lang="en-US" sz="2400" b="1" dirty="0">
                <a:solidFill>
                  <a:schemeClr val="bg1"/>
                </a:solidFill>
                <a:highlight>
                  <a:srgbClr val="00FFFF"/>
                </a:highlight>
                <a:latin typeface="Times New Roman" panose="02020603050405020304" pitchFamily="18" charset="0"/>
                <a:cs typeface="Times New Roman" panose="02020603050405020304" pitchFamily="18" charset="0"/>
              </a:rPr>
              <a:t>Volatility</a:t>
            </a:r>
          </a:p>
        </p:txBody>
      </p:sp>
      <p:sp>
        <p:nvSpPr>
          <p:cNvPr id="12" name="TextBox 11">
            <a:extLst>
              <a:ext uri="{FF2B5EF4-FFF2-40B4-BE49-F238E27FC236}">
                <a16:creationId xmlns:a16="http://schemas.microsoft.com/office/drawing/2014/main" id="{3583E3FB-85E1-458D-A716-638833909A49}"/>
              </a:ext>
            </a:extLst>
          </p:cNvPr>
          <p:cNvSpPr txBox="1"/>
          <p:nvPr/>
        </p:nvSpPr>
        <p:spPr>
          <a:xfrm>
            <a:off x="80117" y="899658"/>
            <a:ext cx="4853833" cy="338554"/>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High volatility:</a:t>
            </a:r>
            <a:r>
              <a:rPr lang="en-US" sz="1600" dirty="0">
                <a:solidFill>
                  <a:schemeClr val="bg1"/>
                </a:solidFill>
                <a:latin typeface="Times New Roman" panose="02020603050405020304" pitchFamily="18" charset="0"/>
                <a:cs typeface="Times New Roman" panose="02020603050405020304" pitchFamily="18" charset="0"/>
              </a:rPr>
              <a:t> high uncertainty/risky commodities.</a:t>
            </a:r>
          </a:p>
        </p:txBody>
      </p:sp>
      <p:pic>
        <p:nvPicPr>
          <p:cNvPr id="16" name="Picture 15">
            <a:extLst>
              <a:ext uri="{FF2B5EF4-FFF2-40B4-BE49-F238E27FC236}">
                <a16:creationId xmlns:a16="http://schemas.microsoft.com/office/drawing/2014/main" id="{A2A073BC-D9D8-45CD-A793-33D5B45F58E2}"/>
              </a:ext>
            </a:extLst>
          </p:cNvPr>
          <p:cNvPicPr>
            <a:picLocks noChangeAspect="1"/>
          </p:cNvPicPr>
          <p:nvPr/>
        </p:nvPicPr>
        <p:blipFill rotWithShape="1">
          <a:blip r:embed="rId3"/>
          <a:srcRect l="477" r="6667"/>
          <a:stretch/>
        </p:blipFill>
        <p:spPr>
          <a:xfrm>
            <a:off x="0" y="3219450"/>
            <a:ext cx="6678931" cy="1540896"/>
          </a:xfrm>
          <a:prstGeom prst="rect">
            <a:avLst/>
          </a:prstGeom>
        </p:spPr>
      </p:pic>
      <p:pic>
        <p:nvPicPr>
          <p:cNvPr id="20" name="Picture 19">
            <a:extLst>
              <a:ext uri="{FF2B5EF4-FFF2-40B4-BE49-F238E27FC236}">
                <a16:creationId xmlns:a16="http://schemas.microsoft.com/office/drawing/2014/main" id="{2E3CE988-05D4-4182-B890-7E5D8A80E71C}"/>
              </a:ext>
            </a:extLst>
          </p:cNvPr>
          <p:cNvPicPr>
            <a:picLocks noChangeAspect="1"/>
          </p:cNvPicPr>
          <p:nvPr/>
        </p:nvPicPr>
        <p:blipFill>
          <a:blip r:embed="rId4"/>
          <a:stretch>
            <a:fillRect/>
          </a:stretch>
        </p:blipFill>
        <p:spPr>
          <a:xfrm>
            <a:off x="0" y="1444060"/>
            <a:ext cx="6172200" cy="1675976"/>
          </a:xfrm>
          <a:prstGeom prst="rect">
            <a:avLst/>
          </a:prstGeom>
        </p:spPr>
      </p:pic>
      <p:pic>
        <p:nvPicPr>
          <p:cNvPr id="22" name="Picture 21">
            <a:extLst>
              <a:ext uri="{FF2B5EF4-FFF2-40B4-BE49-F238E27FC236}">
                <a16:creationId xmlns:a16="http://schemas.microsoft.com/office/drawing/2014/main" id="{7617B7F0-9A24-42CC-B94A-E6FCCAC58982}"/>
              </a:ext>
            </a:extLst>
          </p:cNvPr>
          <p:cNvPicPr>
            <a:picLocks noChangeAspect="1"/>
          </p:cNvPicPr>
          <p:nvPr/>
        </p:nvPicPr>
        <p:blipFill rotWithShape="1">
          <a:blip r:embed="rId5"/>
          <a:srcRect l="536"/>
          <a:stretch/>
        </p:blipFill>
        <p:spPr>
          <a:xfrm>
            <a:off x="0" y="5112238"/>
            <a:ext cx="6696075" cy="1540895"/>
          </a:xfrm>
          <a:prstGeom prst="rect">
            <a:avLst/>
          </a:prstGeom>
        </p:spPr>
      </p:pic>
      <p:sp>
        <p:nvSpPr>
          <p:cNvPr id="23" name="TextBox 22">
            <a:extLst>
              <a:ext uri="{FF2B5EF4-FFF2-40B4-BE49-F238E27FC236}">
                <a16:creationId xmlns:a16="http://schemas.microsoft.com/office/drawing/2014/main" id="{F6516044-5EA8-4202-A277-0E5FF21F28BB}"/>
              </a:ext>
            </a:extLst>
          </p:cNvPr>
          <p:cNvSpPr txBox="1"/>
          <p:nvPr/>
        </p:nvSpPr>
        <p:spPr>
          <a:xfrm>
            <a:off x="7245549" y="22073"/>
            <a:ext cx="3651051" cy="338554"/>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dirty="0">
                <a:solidFill>
                  <a:schemeClr val="bg1"/>
                </a:solidFill>
              </a:rPr>
              <a:t>Increase in FX rate, increases the Price</a:t>
            </a:r>
          </a:p>
        </p:txBody>
      </p:sp>
      <p:sp>
        <p:nvSpPr>
          <p:cNvPr id="24" name="TextBox 23">
            <a:extLst>
              <a:ext uri="{FF2B5EF4-FFF2-40B4-BE49-F238E27FC236}">
                <a16:creationId xmlns:a16="http://schemas.microsoft.com/office/drawing/2014/main" id="{86700C1D-8143-4B30-990C-C4747A973AF5}"/>
              </a:ext>
            </a:extLst>
          </p:cNvPr>
          <p:cNvSpPr txBox="1"/>
          <p:nvPr/>
        </p:nvSpPr>
        <p:spPr>
          <a:xfrm>
            <a:off x="7901940" y="899658"/>
            <a:ext cx="3446143" cy="338554"/>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Low volatility: </a:t>
            </a:r>
            <a:r>
              <a:rPr lang="en-US" sz="1600" dirty="0">
                <a:solidFill>
                  <a:schemeClr val="bg1"/>
                </a:solidFill>
                <a:latin typeface="Times New Roman" panose="02020603050405020304" pitchFamily="18" charset="0"/>
                <a:cs typeface="Times New Roman" panose="02020603050405020304" pitchFamily="18" charset="0"/>
              </a:rPr>
              <a:t>stable commodities </a:t>
            </a:r>
          </a:p>
        </p:txBody>
      </p:sp>
      <p:pic>
        <p:nvPicPr>
          <p:cNvPr id="26" name="Picture 25">
            <a:extLst>
              <a:ext uri="{FF2B5EF4-FFF2-40B4-BE49-F238E27FC236}">
                <a16:creationId xmlns:a16="http://schemas.microsoft.com/office/drawing/2014/main" id="{C5803AB3-D07E-47AD-B0F1-14E1B624213C}"/>
              </a:ext>
            </a:extLst>
          </p:cNvPr>
          <p:cNvPicPr>
            <a:picLocks noChangeAspect="1"/>
          </p:cNvPicPr>
          <p:nvPr/>
        </p:nvPicPr>
        <p:blipFill>
          <a:blip r:embed="rId6"/>
          <a:stretch>
            <a:fillRect/>
          </a:stretch>
        </p:blipFill>
        <p:spPr>
          <a:xfrm>
            <a:off x="6248400" y="1444061"/>
            <a:ext cx="5926455" cy="1675976"/>
          </a:xfrm>
          <a:prstGeom prst="rect">
            <a:avLst/>
          </a:prstGeom>
        </p:spPr>
      </p:pic>
      <p:pic>
        <p:nvPicPr>
          <p:cNvPr id="28" name="Picture 27">
            <a:extLst>
              <a:ext uri="{FF2B5EF4-FFF2-40B4-BE49-F238E27FC236}">
                <a16:creationId xmlns:a16="http://schemas.microsoft.com/office/drawing/2014/main" id="{50F3BC49-2948-418D-B047-7F7AA88C6F38}"/>
              </a:ext>
            </a:extLst>
          </p:cNvPr>
          <p:cNvPicPr>
            <a:picLocks noChangeAspect="1"/>
          </p:cNvPicPr>
          <p:nvPr/>
        </p:nvPicPr>
        <p:blipFill>
          <a:blip r:embed="rId7"/>
          <a:stretch>
            <a:fillRect/>
          </a:stretch>
        </p:blipFill>
        <p:spPr>
          <a:xfrm>
            <a:off x="6798827" y="3219450"/>
            <a:ext cx="2412800" cy="1442431"/>
          </a:xfrm>
          <a:prstGeom prst="rect">
            <a:avLst/>
          </a:prstGeom>
        </p:spPr>
      </p:pic>
      <p:pic>
        <p:nvPicPr>
          <p:cNvPr id="30" name="Picture 29">
            <a:extLst>
              <a:ext uri="{FF2B5EF4-FFF2-40B4-BE49-F238E27FC236}">
                <a16:creationId xmlns:a16="http://schemas.microsoft.com/office/drawing/2014/main" id="{993420F9-9D8F-469E-8645-958B5B27880E}"/>
              </a:ext>
            </a:extLst>
          </p:cNvPr>
          <p:cNvPicPr>
            <a:picLocks noChangeAspect="1"/>
          </p:cNvPicPr>
          <p:nvPr/>
        </p:nvPicPr>
        <p:blipFill>
          <a:blip r:embed="rId8"/>
          <a:stretch>
            <a:fillRect/>
          </a:stretch>
        </p:blipFill>
        <p:spPr>
          <a:xfrm>
            <a:off x="6807401" y="5112238"/>
            <a:ext cx="2298500" cy="1540895"/>
          </a:xfrm>
          <a:prstGeom prst="rect">
            <a:avLst/>
          </a:prstGeom>
        </p:spPr>
      </p:pic>
      <p:sp>
        <p:nvSpPr>
          <p:cNvPr id="33" name="TextBox 32">
            <a:extLst>
              <a:ext uri="{FF2B5EF4-FFF2-40B4-BE49-F238E27FC236}">
                <a16:creationId xmlns:a16="http://schemas.microsoft.com/office/drawing/2014/main" id="{8D6EE10F-8581-44B2-BA3A-117E181E76E6}"/>
              </a:ext>
            </a:extLst>
          </p:cNvPr>
          <p:cNvSpPr txBox="1"/>
          <p:nvPr/>
        </p:nvSpPr>
        <p:spPr>
          <a:xfrm>
            <a:off x="9331523" y="3372474"/>
            <a:ext cx="2698552" cy="830997"/>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dirty="0">
                <a:solidFill>
                  <a:schemeClr val="bg1"/>
                </a:solidFill>
                <a:latin typeface="Times New Roman" panose="02020603050405020304" pitchFamily="18" charset="0"/>
                <a:cs typeface="Times New Roman" panose="02020603050405020304" pitchFamily="18" charset="0"/>
              </a:rPr>
              <a:t>2015 Qtr4 – 2017 Qtr2 price volatility has been increasing substantially </a:t>
            </a:r>
          </a:p>
        </p:txBody>
      </p:sp>
    </p:spTree>
    <p:extLst>
      <p:ext uri="{BB962C8B-B14F-4D97-AF65-F5344CB8AC3E}">
        <p14:creationId xmlns:p14="http://schemas.microsoft.com/office/powerpoint/2010/main" val="2485986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621673-6807-46F3-AB35-BF744A6CC80F}"/>
              </a:ext>
            </a:extLst>
          </p:cNvPr>
          <p:cNvPicPr>
            <a:picLocks noChangeAspect="1"/>
          </p:cNvPicPr>
          <p:nvPr/>
        </p:nvPicPr>
        <p:blipFill>
          <a:blip r:embed="rId2"/>
          <a:stretch>
            <a:fillRect/>
          </a:stretch>
        </p:blipFill>
        <p:spPr>
          <a:xfrm>
            <a:off x="0" y="268533"/>
            <a:ext cx="5757112" cy="2274642"/>
          </a:xfrm>
          <a:prstGeom prst="rect">
            <a:avLst/>
          </a:prstGeom>
        </p:spPr>
      </p:pic>
      <p:pic>
        <p:nvPicPr>
          <p:cNvPr id="5" name="Picture 4">
            <a:extLst>
              <a:ext uri="{FF2B5EF4-FFF2-40B4-BE49-F238E27FC236}">
                <a16:creationId xmlns:a16="http://schemas.microsoft.com/office/drawing/2014/main" id="{7279EBFD-3F6A-4ECD-BC4D-2B67E67B55DE}"/>
              </a:ext>
            </a:extLst>
          </p:cNvPr>
          <p:cNvPicPr>
            <a:picLocks noChangeAspect="1"/>
          </p:cNvPicPr>
          <p:nvPr/>
        </p:nvPicPr>
        <p:blipFill>
          <a:blip r:embed="rId3"/>
          <a:stretch>
            <a:fillRect/>
          </a:stretch>
        </p:blipFill>
        <p:spPr>
          <a:xfrm>
            <a:off x="129339" y="3209925"/>
            <a:ext cx="6900112" cy="3555864"/>
          </a:xfrm>
          <a:prstGeom prst="rect">
            <a:avLst/>
          </a:prstGeom>
        </p:spPr>
      </p:pic>
      <p:sp>
        <p:nvSpPr>
          <p:cNvPr id="8" name="TextBox 7">
            <a:extLst>
              <a:ext uri="{FF2B5EF4-FFF2-40B4-BE49-F238E27FC236}">
                <a16:creationId xmlns:a16="http://schemas.microsoft.com/office/drawing/2014/main" id="{8215793A-F43F-4118-A8A9-B9BA0A7D0EFB}"/>
              </a:ext>
            </a:extLst>
          </p:cNvPr>
          <p:cNvSpPr txBox="1"/>
          <p:nvPr/>
        </p:nvSpPr>
        <p:spPr>
          <a:xfrm>
            <a:off x="5895976" y="63248"/>
            <a:ext cx="3619499" cy="2800767"/>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b="1" dirty="0">
                <a:solidFill>
                  <a:schemeClr val="bg1"/>
                </a:solidFill>
                <a:effectLst/>
                <a:latin typeface="Times New Roman" panose="02020603050405020304" pitchFamily="18" charset="0"/>
                <a:cs typeface="Times New Roman" panose="02020603050405020304" pitchFamily="18" charset="0"/>
              </a:rPr>
              <a:t>Volatility</a:t>
            </a:r>
            <a:r>
              <a:rPr lang="en-US" sz="1600" dirty="0">
                <a:solidFill>
                  <a:schemeClr val="bg1"/>
                </a:solidFill>
                <a:effectLst/>
                <a:latin typeface="Times New Roman" panose="02020603050405020304" pitchFamily="18" charset="0"/>
                <a:cs typeface="Times New Roman" panose="02020603050405020304" pitchFamily="18" charset="0"/>
              </a:rPr>
              <a:t> </a:t>
            </a:r>
          </a:p>
          <a:p>
            <a:r>
              <a:rPr lang="en-US" sz="1600" dirty="0">
                <a:solidFill>
                  <a:schemeClr val="bg1"/>
                </a:solidFill>
                <a:effectLst/>
                <a:latin typeface="Times New Roman" panose="02020603050405020304" pitchFamily="18" charset="0"/>
                <a:cs typeface="Times New Roman" panose="02020603050405020304" pitchFamily="18" charset="0"/>
              </a:rPr>
              <a:t>From </a:t>
            </a:r>
            <a:r>
              <a:rPr lang="en-US" sz="1600" b="1" dirty="0">
                <a:solidFill>
                  <a:schemeClr val="bg1"/>
                </a:solidFill>
                <a:effectLst/>
                <a:latin typeface="Times New Roman" panose="02020603050405020304" pitchFamily="18" charset="0"/>
                <a:cs typeface="Times New Roman" panose="02020603050405020304" pitchFamily="18" charset="0"/>
              </a:rPr>
              <a:t>2015 Q4 to 2017 Q2</a:t>
            </a:r>
            <a:r>
              <a:rPr lang="en-US" sz="1600" dirty="0">
                <a:solidFill>
                  <a:schemeClr val="bg1"/>
                </a:solidFill>
                <a:effectLst/>
                <a:latin typeface="Times New Roman" panose="02020603050405020304" pitchFamily="18" charset="0"/>
                <a:cs typeface="Times New Roman" panose="02020603050405020304" pitchFamily="18" charset="0"/>
              </a:rPr>
              <a:t>, prices moved up and down a lot more. The market looked unstable, with bigger swings, even though overall prices didn’t really rise.</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chemeClr val="bg1"/>
                </a:solidFill>
                <a:effectLst/>
                <a:latin typeface="Times New Roman" panose="02020603050405020304" pitchFamily="18" charset="0"/>
                <a:cs typeface="Times New Roman" panose="02020603050405020304" pitchFamily="18" charset="0"/>
              </a:rPr>
              <a:t>Exchange rates</a:t>
            </a:r>
            <a:endParaRPr lang="en-US" sz="1600" b="1" dirty="0">
              <a:solidFill>
                <a:schemeClr val="bg1"/>
              </a:solidFill>
              <a:latin typeface="Times New Roman" panose="02020603050405020304" pitchFamily="18" charset="0"/>
              <a:cs typeface="Times New Roman" panose="02020603050405020304" pitchFamily="18" charset="0"/>
            </a:endParaRPr>
          </a:p>
          <a:p>
            <a:r>
              <a:rPr lang="en-US" sz="1600" dirty="0">
                <a:solidFill>
                  <a:schemeClr val="bg1"/>
                </a:solidFill>
                <a:effectLst/>
                <a:latin typeface="Times New Roman" panose="02020603050405020304" pitchFamily="18" charset="0"/>
                <a:cs typeface="Times New Roman" panose="02020603050405020304" pitchFamily="18" charset="0"/>
              </a:rPr>
              <a:t>In the same period, Year‑over‑Year exchange rate growth kept falling. By </a:t>
            </a:r>
            <a:r>
              <a:rPr lang="en-US" sz="1600" b="1" dirty="0">
                <a:solidFill>
                  <a:schemeClr val="bg1"/>
                </a:solidFill>
                <a:effectLst/>
                <a:latin typeface="Times New Roman" panose="02020603050405020304" pitchFamily="18" charset="0"/>
                <a:cs typeface="Times New Roman" panose="02020603050405020304" pitchFamily="18" charset="0"/>
              </a:rPr>
              <a:t>2017 Q2</a:t>
            </a:r>
            <a:r>
              <a:rPr lang="en-US" sz="1600" dirty="0">
                <a:solidFill>
                  <a:schemeClr val="bg1"/>
                </a:solidFill>
                <a:effectLst/>
                <a:latin typeface="Times New Roman" panose="02020603050405020304" pitchFamily="18" charset="0"/>
                <a:cs typeface="Times New Roman" panose="02020603050405020304" pitchFamily="18" charset="0"/>
              </a:rPr>
              <a:t>, currencies were putting less pressure on prices than they did in </a:t>
            </a:r>
            <a:r>
              <a:rPr lang="en-US" sz="1600" b="1" dirty="0">
                <a:solidFill>
                  <a:schemeClr val="bg1"/>
                </a:solidFill>
                <a:effectLst/>
                <a:latin typeface="Times New Roman" panose="02020603050405020304" pitchFamily="18" charset="0"/>
                <a:cs typeface="Times New Roman" panose="02020603050405020304" pitchFamily="18" charset="0"/>
              </a:rPr>
              <a:t>2015 Q4</a:t>
            </a:r>
            <a:r>
              <a:rPr lang="en-US" sz="1600" dirty="0">
                <a:solidFill>
                  <a:schemeClr val="bg1"/>
                </a:solidFill>
                <a:effectLst/>
                <a:latin typeface="Times New Roman" panose="02020603050405020304" pitchFamily="18" charset="0"/>
                <a:cs typeface="Times New Roman" panose="02020603050405020304" pitchFamily="18" charset="0"/>
              </a:rPr>
              <a:t>.</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B5C78179-576A-4AB6-8B25-238AFEDF91F0}"/>
              </a:ext>
            </a:extLst>
          </p:cNvPr>
          <p:cNvSpPr txBox="1"/>
          <p:nvPr/>
        </p:nvSpPr>
        <p:spPr>
          <a:xfrm>
            <a:off x="9654339" y="48249"/>
            <a:ext cx="2408322" cy="3293209"/>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b="1" dirty="0">
                <a:solidFill>
                  <a:schemeClr val="bg1"/>
                </a:solidFill>
                <a:effectLst/>
                <a:latin typeface="Times New Roman" panose="02020603050405020304" pitchFamily="18" charset="0"/>
                <a:cs typeface="Times New Roman" panose="02020603050405020304" pitchFamily="18" charset="0"/>
              </a:rPr>
              <a:t>Price growth</a:t>
            </a:r>
            <a:r>
              <a:rPr lang="en-US" sz="1600" dirty="0">
                <a:solidFill>
                  <a:schemeClr val="bg1"/>
                </a:solidFill>
                <a:effectLst/>
                <a:latin typeface="Times New Roman" panose="02020603050405020304" pitchFamily="18" charset="0"/>
                <a:cs typeface="Times New Roman" panose="02020603050405020304" pitchFamily="18" charset="0"/>
              </a:rPr>
              <a:t> </a:t>
            </a:r>
          </a:p>
          <a:p>
            <a:r>
              <a:rPr lang="en-US" sz="1600" dirty="0">
                <a:solidFill>
                  <a:schemeClr val="bg1"/>
                </a:solidFill>
                <a:effectLst/>
                <a:latin typeface="Times New Roman" panose="02020603050405020304" pitchFamily="18" charset="0"/>
                <a:cs typeface="Times New Roman" panose="02020603050405020304" pitchFamily="18" charset="0"/>
              </a:rPr>
              <a:t>Between </a:t>
            </a:r>
            <a:r>
              <a:rPr lang="en-US" sz="1600" b="1" dirty="0">
                <a:solidFill>
                  <a:schemeClr val="bg1"/>
                </a:solidFill>
                <a:effectLst/>
                <a:latin typeface="Times New Roman" panose="02020603050405020304" pitchFamily="18" charset="0"/>
                <a:cs typeface="Times New Roman" panose="02020603050405020304" pitchFamily="18" charset="0"/>
              </a:rPr>
              <a:t>2016 Q1 and 2017 Q4</a:t>
            </a:r>
            <a:r>
              <a:rPr lang="en-US" sz="1600" dirty="0">
                <a:solidFill>
                  <a:schemeClr val="bg1"/>
                </a:solidFill>
                <a:effectLst/>
                <a:latin typeface="Times New Roman" panose="02020603050405020304" pitchFamily="18" charset="0"/>
                <a:cs typeface="Times New Roman" panose="02020603050405020304" pitchFamily="18" charset="0"/>
              </a:rPr>
              <a:t>, the speed of price increases slowed. Prices still shifted, but the upward push lost strength.</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b="1" dirty="0">
                <a:solidFill>
                  <a:schemeClr val="bg1"/>
                </a:solidFill>
                <a:effectLst/>
                <a:latin typeface="Times New Roman" panose="02020603050405020304" pitchFamily="18" charset="0"/>
                <a:cs typeface="Times New Roman" panose="02020603050405020304" pitchFamily="18" charset="0"/>
              </a:rPr>
              <a:t>Stability vs. volatility</a:t>
            </a:r>
            <a:r>
              <a:rPr lang="en-US" sz="1600" dirty="0">
                <a:solidFill>
                  <a:schemeClr val="bg1"/>
                </a:solidFill>
                <a:effectLst/>
                <a:latin typeface="Times New Roman" panose="02020603050405020304" pitchFamily="18" charset="0"/>
                <a:cs typeface="Times New Roman" panose="02020603050405020304" pitchFamily="18" charset="0"/>
              </a:rPr>
              <a:t> </a:t>
            </a:r>
          </a:p>
          <a:p>
            <a:r>
              <a:rPr lang="en-US" sz="1600" dirty="0">
                <a:solidFill>
                  <a:schemeClr val="bg1"/>
                </a:solidFill>
                <a:effectLst/>
                <a:latin typeface="Times New Roman" panose="02020603050405020304" pitchFamily="18" charset="0"/>
                <a:cs typeface="Times New Roman" panose="02020603050405020304" pitchFamily="18" charset="0"/>
              </a:rPr>
              <a:t>From </a:t>
            </a:r>
            <a:r>
              <a:rPr lang="en-US" sz="1600" b="1" dirty="0">
                <a:solidFill>
                  <a:schemeClr val="bg1"/>
                </a:solidFill>
                <a:effectLst/>
                <a:latin typeface="Times New Roman" panose="02020603050405020304" pitchFamily="18" charset="0"/>
                <a:cs typeface="Times New Roman" panose="02020603050405020304" pitchFamily="18" charset="0"/>
              </a:rPr>
              <a:t>2016 Q1 to 2017 Q4</a:t>
            </a:r>
            <a:r>
              <a:rPr lang="en-US" sz="1600" dirty="0">
                <a:solidFill>
                  <a:schemeClr val="bg1"/>
                </a:solidFill>
                <a:effectLst/>
                <a:latin typeface="Times New Roman" panose="02020603050405020304" pitchFamily="18" charset="0"/>
                <a:cs typeface="Times New Roman" panose="02020603050405020304" pitchFamily="18" charset="0"/>
              </a:rPr>
              <a:t>, average prices stayed steady. The market had short‑term jumps and drops, but no lasting rise in overall levels.</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E6FBD9FB-3317-4B60-B5EA-028FAA2A373F}"/>
              </a:ext>
            </a:extLst>
          </p:cNvPr>
          <p:cNvSpPr txBox="1"/>
          <p:nvPr/>
        </p:nvSpPr>
        <p:spPr>
          <a:xfrm>
            <a:off x="7334251" y="3516543"/>
            <a:ext cx="4524374" cy="2800767"/>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buFont typeface="Arial" panose="020B0604020202020204" pitchFamily="34" charset="0"/>
              <a:buChar char="•"/>
            </a:pPr>
            <a:r>
              <a:rPr lang="en-US" sz="1600" b="1" dirty="0">
                <a:solidFill>
                  <a:schemeClr val="bg1"/>
                </a:solidFill>
                <a:effectLst/>
                <a:latin typeface="Times New Roman" panose="02020603050405020304" pitchFamily="18" charset="0"/>
                <a:cs typeface="Times New Roman" panose="02020603050405020304" pitchFamily="18" charset="0"/>
              </a:rPr>
              <a:t>Clustered</a:t>
            </a:r>
          </a:p>
          <a:p>
            <a:r>
              <a:rPr lang="en-US" sz="1600" dirty="0">
                <a:solidFill>
                  <a:schemeClr val="bg1"/>
                </a:solidFill>
                <a:latin typeface="Times New Roman" panose="02020603050405020304" pitchFamily="18" charset="0"/>
                <a:cs typeface="Times New Roman" panose="02020603050405020304" pitchFamily="18" charset="0"/>
              </a:rPr>
              <a:t>Most commodities sit close together. On average, they’re around </a:t>
            </a:r>
            <a:r>
              <a:rPr lang="en-US" sz="1600" b="1" dirty="0">
                <a:solidFill>
                  <a:schemeClr val="bg1"/>
                </a:solidFill>
                <a:latin typeface="Times New Roman" panose="02020603050405020304" pitchFamily="18" charset="0"/>
                <a:cs typeface="Times New Roman" panose="02020603050405020304" pitchFamily="18" charset="0"/>
              </a:rPr>
              <a:t>USD 3M</a:t>
            </a:r>
            <a:r>
              <a:rPr lang="en-US" sz="1600" dirty="0">
                <a:solidFill>
                  <a:schemeClr val="bg1"/>
                </a:solidFill>
                <a:latin typeface="Times New Roman" panose="02020603050405020304" pitchFamily="18" charset="0"/>
                <a:cs typeface="Times New Roman" panose="02020603050405020304" pitchFamily="18" charset="0"/>
              </a:rPr>
              <a:t>. Their volatility is under </a:t>
            </a:r>
            <a:r>
              <a:rPr lang="en-US" sz="1600" b="1" dirty="0">
                <a:solidFill>
                  <a:schemeClr val="bg1"/>
                </a:solidFill>
                <a:latin typeface="Times New Roman" panose="02020603050405020304" pitchFamily="18" charset="0"/>
                <a:cs typeface="Times New Roman" panose="02020603050405020304" pitchFamily="18" charset="0"/>
              </a:rPr>
              <a:t>10%</a:t>
            </a:r>
            <a:r>
              <a:rPr lang="en-US" sz="1600" dirty="0">
                <a:solidFill>
                  <a:schemeClr val="bg1"/>
                </a:solidFill>
                <a:latin typeface="Times New Roman" panose="02020603050405020304" pitchFamily="18" charset="0"/>
                <a:cs typeface="Times New Roman" panose="02020603050405020304" pitchFamily="18" charset="0"/>
              </a:rPr>
              <a:t>, which means prices are moderate and don’t swing too much.</a:t>
            </a:r>
          </a:p>
          <a:p>
            <a:pPr marL="285750" indent="-285750">
              <a:buFont typeface="Arial" panose="020B0604020202020204" pitchFamily="34" charset="0"/>
              <a:buChar char="•"/>
            </a:pPr>
            <a:r>
              <a:rPr lang="en-US" sz="1600" b="1" dirty="0">
                <a:solidFill>
                  <a:schemeClr val="bg1"/>
                </a:solidFill>
                <a:latin typeface="Times New Roman" panose="02020603050405020304" pitchFamily="18" charset="0"/>
                <a:cs typeface="Times New Roman" panose="02020603050405020304" pitchFamily="18" charset="0"/>
              </a:rPr>
              <a:t>Outliers</a:t>
            </a:r>
          </a:p>
          <a:p>
            <a:r>
              <a:rPr lang="en-US" sz="1600" dirty="0">
                <a:solidFill>
                  <a:schemeClr val="bg1"/>
                </a:solidFill>
                <a:latin typeface="Times New Roman" panose="02020603050405020304" pitchFamily="18" charset="0"/>
                <a:cs typeface="Times New Roman" panose="02020603050405020304" pitchFamily="18" charset="0"/>
              </a:rPr>
              <a:t>A few commodities break away from this calm picture. They show much higher or more unstable prices, clearly standing out from the rest.</a:t>
            </a:r>
          </a:p>
          <a:p>
            <a:r>
              <a:rPr lang="en-US" sz="1600" dirty="0">
                <a:solidFill>
                  <a:schemeClr val="bg1"/>
                </a:solidFill>
                <a:latin typeface="Times New Roman" panose="02020603050405020304" pitchFamily="18" charset="0"/>
                <a:cs typeface="Times New Roman" panose="02020603050405020304" pitchFamily="18" charset="0"/>
              </a:rPr>
              <a:t>Overall, the market is steady and mid‑range, though there’re a lot of commodities that stand out.</a:t>
            </a:r>
            <a:endParaRPr lang="en-US" sz="1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67479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6E447E8-8CCC-416D-A748-42DF986270DB}"/>
              </a:ext>
            </a:extLst>
          </p:cNvPr>
          <p:cNvSpPr txBox="1"/>
          <p:nvPr/>
        </p:nvSpPr>
        <p:spPr>
          <a:xfrm>
            <a:off x="3690619" y="302"/>
            <a:ext cx="4810762" cy="584775"/>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r>
              <a:rPr lang="en-US" sz="3200" b="1" dirty="0">
                <a:solidFill>
                  <a:schemeClr val="bg1"/>
                </a:solidFill>
                <a:latin typeface="Times New Roman" panose="02020603050405020304" pitchFamily="18" charset="0"/>
                <a:cs typeface="Times New Roman" panose="02020603050405020304" pitchFamily="18" charset="0"/>
              </a:rPr>
              <a:t>Technical Specifications</a:t>
            </a:r>
          </a:p>
        </p:txBody>
      </p:sp>
      <p:graphicFrame>
        <p:nvGraphicFramePr>
          <p:cNvPr id="9" name="Table 8">
            <a:extLst>
              <a:ext uri="{FF2B5EF4-FFF2-40B4-BE49-F238E27FC236}">
                <a16:creationId xmlns:a16="http://schemas.microsoft.com/office/drawing/2014/main" id="{BD41AC70-392F-4F2E-8AE5-E2B8BD6F9D0D}"/>
              </a:ext>
            </a:extLst>
          </p:cNvPr>
          <p:cNvGraphicFramePr>
            <a:graphicFrameLocks noGrp="1"/>
          </p:cNvGraphicFramePr>
          <p:nvPr>
            <p:extLst>
              <p:ext uri="{D42A27DB-BD31-4B8C-83A1-F6EECF244321}">
                <p14:modId xmlns:p14="http://schemas.microsoft.com/office/powerpoint/2010/main" val="4211017192"/>
              </p:ext>
            </p:extLst>
          </p:nvPr>
        </p:nvGraphicFramePr>
        <p:xfrm>
          <a:off x="0" y="1152468"/>
          <a:ext cx="4810764" cy="2194560"/>
        </p:xfrm>
        <a:graphic>
          <a:graphicData uri="http://schemas.openxmlformats.org/drawingml/2006/table">
            <a:tbl>
              <a:tblPr>
                <a:tableStyleId>{2D5ABB26-0587-4C30-8999-92F81FD0307C}</a:tableStyleId>
              </a:tblPr>
              <a:tblGrid>
                <a:gridCol w="1202691">
                  <a:extLst>
                    <a:ext uri="{9D8B030D-6E8A-4147-A177-3AD203B41FA5}">
                      <a16:colId xmlns:a16="http://schemas.microsoft.com/office/drawing/2014/main" val="3713144323"/>
                    </a:ext>
                  </a:extLst>
                </a:gridCol>
                <a:gridCol w="1202691">
                  <a:extLst>
                    <a:ext uri="{9D8B030D-6E8A-4147-A177-3AD203B41FA5}">
                      <a16:colId xmlns:a16="http://schemas.microsoft.com/office/drawing/2014/main" val="4132416227"/>
                    </a:ext>
                  </a:extLst>
                </a:gridCol>
                <a:gridCol w="1202691">
                  <a:extLst>
                    <a:ext uri="{9D8B030D-6E8A-4147-A177-3AD203B41FA5}">
                      <a16:colId xmlns:a16="http://schemas.microsoft.com/office/drawing/2014/main" val="2711986559"/>
                    </a:ext>
                  </a:extLst>
                </a:gridCol>
                <a:gridCol w="1202691">
                  <a:extLst>
                    <a:ext uri="{9D8B030D-6E8A-4147-A177-3AD203B41FA5}">
                      <a16:colId xmlns:a16="http://schemas.microsoft.com/office/drawing/2014/main" val="727422540"/>
                    </a:ext>
                  </a:extLst>
                </a:gridCol>
              </a:tblGrid>
              <a:tr h="357661">
                <a:tc>
                  <a:txBody>
                    <a:bodyPr/>
                    <a:lstStyle/>
                    <a:p>
                      <a:r>
                        <a:rPr lang="en-US" b="1" dirty="0">
                          <a:solidFill>
                            <a:schemeClr val="bg1"/>
                          </a:solidFill>
                          <a:latin typeface="Times New Roman" panose="02020603050405020304" pitchFamily="18" charset="0"/>
                          <a:cs typeface="Times New Roman" panose="02020603050405020304" pitchFamily="18" charset="0"/>
                        </a:rPr>
                        <a:t>Dataset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r>
                        <a:rPr lang="en-US" b="1" dirty="0">
                          <a:solidFill>
                            <a:schemeClr val="bg1"/>
                          </a:solidFill>
                          <a:latin typeface="Times New Roman" panose="02020603050405020304" pitchFamily="18" charset="0"/>
                          <a:cs typeface="Times New Roman" panose="02020603050405020304" pitchFamily="18" charset="0"/>
                        </a:rPr>
                        <a:t>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r>
                        <a:rPr lang="en-US" b="1" dirty="0">
                          <a:solidFill>
                            <a:schemeClr val="bg1"/>
                          </a:solidFill>
                          <a:latin typeface="Times New Roman" panose="02020603050405020304" pitchFamily="18" charset="0"/>
                          <a:cs typeface="Times New Roman" panose="02020603050405020304" pitchFamily="18" charset="0"/>
                        </a:rPr>
                        <a:t>Format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r>
                        <a:rPr lang="en-US" b="1" dirty="0">
                          <a:solidFill>
                            <a:schemeClr val="bg1"/>
                          </a:solidFill>
                          <a:latin typeface="Times New Roman" panose="02020603050405020304" pitchFamily="18" charset="0"/>
                          <a:cs typeface="Times New Roman" panose="02020603050405020304" pitchFamily="18" charset="0"/>
                        </a:rPr>
                        <a:t>Size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3462918882"/>
                  </a:ext>
                </a:extLst>
              </a:tr>
              <a:tr h="894152">
                <a:tc>
                  <a:txBody>
                    <a:bodyPr/>
                    <a:lstStyle/>
                    <a:p>
                      <a:r>
                        <a:rPr lang="en-US" dirty="0">
                          <a:solidFill>
                            <a:schemeClr val="bg1"/>
                          </a:solidFill>
                          <a:latin typeface="Times New Roman" panose="02020603050405020304" pitchFamily="18" charset="0"/>
                          <a:cs typeface="Times New Roman" panose="02020603050405020304" pitchFamily="18" charset="0"/>
                        </a:rPr>
                        <a:t>Global Food Prices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lumMod val="60000"/>
                        <a:lumOff val="40000"/>
                      </a:schemeClr>
                    </a:solidFill>
                  </a:tcPr>
                </a:tc>
                <a:tc>
                  <a:txBody>
                    <a:bodyPr/>
                    <a:lstStyle/>
                    <a:p>
                      <a:r>
                        <a:rPr lang="en-US" sz="1600" kern="1200" dirty="0">
                          <a:solidFill>
                            <a:schemeClr val="bg1"/>
                          </a:solidFill>
                          <a:latin typeface="Times New Roman" panose="02020603050405020304" pitchFamily="18" charset="0"/>
                          <a:ea typeface="+mn-ea"/>
                          <a:cs typeface="Times New Roman" panose="02020603050405020304" pitchFamily="18" charset="0"/>
                        </a:rPr>
                        <a:t>Kaggle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tc>
                  <a:txBody>
                    <a:bodyPr/>
                    <a:lstStyle/>
                    <a:p>
                      <a:pPr marL="0" algn="l" defTabSz="914400" rtl="0" eaLnBrk="1" latinLnBrk="0" hangingPunct="1"/>
                      <a:r>
                        <a:rPr lang="en-US" sz="1600" kern="1200" dirty="0">
                          <a:solidFill>
                            <a:schemeClr val="bg1"/>
                          </a:solidFill>
                          <a:latin typeface="Times New Roman" panose="02020603050405020304" pitchFamily="18" charset="0"/>
                          <a:ea typeface="+mn-ea"/>
                          <a:cs typeface="Times New Roman" panose="02020603050405020304" pitchFamily="18" charset="0"/>
                        </a:rPr>
                        <a:t>.csv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tc>
                  <a:txBody>
                    <a:bodyPr/>
                    <a:lstStyle/>
                    <a:p>
                      <a:pPr marL="0" algn="l" defTabSz="914400" rtl="0" eaLnBrk="1" latinLnBrk="0" hangingPunct="1"/>
                      <a:r>
                        <a:rPr lang="en-US" sz="1600" kern="1200" dirty="0">
                          <a:solidFill>
                            <a:schemeClr val="bg1"/>
                          </a:solidFill>
                          <a:latin typeface="Times New Roman" panose="02020603050405020304" pitchFamily="18" charset="0"/>
                          <a:ea typeface="+mn-ea"/>
                          <a:cs typeface="Times New Roman" panose="02020603050405020304" pitchFamily="18" charset="0"/>
                        </a:rPr>
                        <a:t>740,000+ rows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extLst>
                  <a:ext uri="{0D108BD9-81ED-4DB2-BD59-A6C34878D82A}">
                    <a16:rowId xmlns:a16="http://schemas.microsoft.com/office/drawing/2014/main" val="1628494"/>
                  </a:ext>
                </a:extLst>
              </a:tr>
              <a:tr h="894152">
                <a:tc>
                  <a:txBody>
                    <a:bodyPr/>
                    <a:lstStyle/>
                    <a:p>
                      <a:r>
                        <a:rPr lang="en-US" dirty="0">
                          <a:solidFill>
                            <a:schemeClr val="bg1"/>
                          </a:solidFill>
                          <a:latin typeface="Times New Roman" panose="02020603050405020304" pitchFamily="18" charset="0"/>
                          <a:cs typeface="Times New Roman" panose="02020603050405020304" pitchFamily="18" charset="0"/>
                        </a:rPr>
                        <a:t>Exchange Rate (LCU per USD)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lumMod val="60000"/>
                        <a:lumOff val="40000"/>
                      </a:schemeClr>
                    </a:solidFill>
                  </a:tcPr>
                </a:tc>
                <a:tc>
                  <a:txBody>
                    <a:bodyPr/>
                    <a:lstStyle/>
                    <a:p>
                      <a:pPr marL="0" algn="l" defTabSz="914400" rtl="0" eaLnBrk="1" latinLnBrk="0" hangingPunct="1"/>
                      <a:r>
                        <a:rPr lang="en-US" sz="1600" kern="1200" dirty="0">
                          <a:solidFill>
                            <a:schemeClr val="bg1"/>
                          </a:solidFill>
                          <a:latin typeface="Times New Roman" panose="02020603050405020304" pitchFamily="18" charset="0"/>
                          <a:ea typeface="+mn-ea"/>
                          <a:cs typeface="Times New Roman" panose="02020603050405020304" pitchFamily="18" charset="0"/>
                        </a:rPr>
                        <a:t>World Bank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tc>
                  <a:txBody>
                    <a:bodyPr/>
                    <a:lstStyle/>
                    <a:p>
                      <a:pPr marL="0" algn="l" defTabSz="914400" rtl="0" eaLnBrk="1" latinLnBrk="0" hangingPunct="1"/>
                      <a:r>
                        <a:rPr lang="en-US" sz="1600" kern="1200" dirty="0">
                          <a:solidFill>
                            <a:schemeClr val="bg1"/>
                          </a:solidFill>
                          <a:latin typeface="Times New Roman" panose="02020603050405020304" pitchFamily="18" charset="0"/>
                          <a:ea typeface="+mn-ea"/>
                          <a:cs typeface="Times New Roman" panose="02020603050405020304" pitchFamily="18" charset="0"/>
                        </a:rPr>
                        <a:t>.xlsx/.csv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tc>
                  <a:txBody>
                    <a:bodyPr/>
                    <a:lstStyle/>
                    <a:p>
                      <a:pPr marL="0" algn="l" defTabSz="914400" rtl="0" eaLnBrk="1" latinLnBrk="0" hangingPunct="1"/>
                      <a:r>
                        <a:rPr lang="en-US" sz="1600" kern="1200" dirty="0">
                          <a:solidFill>
                            <a:schemeClr val="bg1"/>
                          </a:solidFill>
                          <a:latin typeface="Times New Roman" panose="02020603050405020304" pitchFamily="18" charset="0"/>
                          <a:ea typeface="+mn-ea"/>
                          <a:cs typeface="Times New Roman" panose="02020603050405020304" pitchFamily="18" charset="0"/>
                        </a:rPr>
                        <a:t>Annual, 74 countries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extLst>
                  <a:ext uri="{0D108BD9-81ED-4DB2-BD59-A6C34878D82A}">
                    <a16:rowId xmlns:a16="http://schemas.microsoft.com/office/drawing/2014/main" val="572395004"/>
                  </a:ext>
                </a:extLst>
              </a:tr>
            </a:tbl>
          </a:graphicData>
        </a:graphic>
      </p:graphicFrame>
      <p:sp>
        <p:nvSpPr>
          <p:cNvPr id="10" name="TextBox 9">
            <a:extLst>
              <a:ext uri="{FF2B5EF4-FFF2-40B4-BE49-F238E27FC236}">
                <a16:creationId xmlns:a16="http://schemas.microsoft.com/office/drawing/2014/main" id="{B4DE70F5-16EA-49B5-AD76-80A6E6F53401}"/>
              </a:ext>
            </a:extLst>
          </p:cNvPr>
          <p:cNvSpPr txBox="1"/>
          <p:nvPr/>
        </p:nvSpPr>
        <p:spPr>
          <a:xfrm>
            <a:off x="1482641" y="573827"/>
            <a:ext cx="1564476"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Data Source</a:t>
            </a:r>
          </a:p>
        </p:txBody>
      </p:sp>
      <p:sp>
        <p:nvSpPr>
          <p:cNvPr id="11" name="Rectangle 1">
            <a:extLst>
              <a:ext uri="{FF2B5EF4-FFF2-40B4-BE49-F238E27FC236}">
                <a16:creationId xmlns:a16="http://schemas.microsoft.com/office/drawing/2014/main" id="{E95FD233-F195-432C-9238-58FDAA81F9C1}"/>
              </a:ext>
            </a:extLst>
          </p:cNvPr>
          <p:cNvSpPr>
            <a:spLocks noChangeArrowheads="1"/>
          </p:cNvSpPr>
          <p:nvPr/>
        </p:nvSpPr>
        <p:spPr bwMode="auto">
          <a:xfrm>
            <a:off x="10031953" y="1520105"/>
            <a:ext cx="2006765" cy="4154984"/>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Design:</a:t>
            </a: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Star Schema </a:t>
            </a:r>
          </a:p>
          <a:p>
            <a:pPr marL="0" marR="0" lvl="0" indent="0"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Fact Table:</a:t>
            </a: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Market_Prices </a:t>
            </a:r>
          </a:p>
          <a:p>
            <a:pPr marL="0" marR="0" lvl="0" indent="0"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Dimension Tables:</a:t>
            </a: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Calendar</a:t>
            </a:r>
            <a:endParaRPr lang="en-US" altLang="en-US" sz="1600" dirty="0">
              <a:solidFill>
                <a:schemeClr val="bg1"/>
              </a:solidFill>
              <a:latin typeface="Times New Roman" panose="02020603050405020304" pitchFamily="18" charset="0"/>
              <a:cs typeface="Times New Roman" panose="020206030504050203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Country</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Commodity</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Market</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MarketType</a:t>
            </a:r>
            <a:endParaRPr lang="en-US" altLang="en-US" sz="1600" dirty="0">
              <a:solidFill>
                <a:schemeClr val="bg1"/>
              </a:solidFill>
              <a:latin typeface="Times New Roman" panose="02020603050405020304" pitchFamily="18" charset="0"/>
              <a:cs typeface="Times New Roman" panose="02020603050405020304" pitchFamily="18" charset="0"/>
            </a:endParaRP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Locality</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Currency</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Units </a:t>
            </a:r>
          </a:p>
          <a:p>
            <a:pPr marL="0" marR="0" lvl="0" indent="0"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Reference Table</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Exchange_Rate</a:t>
            </a:r>
          </a:p>
          <a:p>
            <a:pPr marR="0" lvl="0"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959BFB0-2C95-4BDD-AE89-1F26B007BF01}"/>
              </a:ext>
            </a:extLst>
          </p:cNvPr>
          <p:cNvSpPr txBox="1"/>
          <p:nvPr/>
        </p:nvSpPr>
        <p:spPr>
          <a:xfrm>
            <a:off x="10253097" y="823157"/>
            <a:ext cx="1564476"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Data Model</a:t>
            </a:r>
          </a:p>
        </p:txBody>
      </p:sp>
      <p:graphicFrame>
        <p:nvGraphicFramePr>
          <p:cNvPr id="13" name="Table 12">
            <a:extLst>
              <a:ext uri="{FF2B5EF4-FFF2-40B4-BE49-F238E27FC236}">
                <a16:creationId xmlns:a16="http://schemas.microsoft.com/office/drawing/2014/main" id="{78A429BD-B56F-47A1-970B-CBD267BC860A}"/>
              </a:ext>
            </a:extLst>
          </p:cNvPr>
          <p:cNvGraphicFramePr>
            <a:graphicFrameLocks noGrp="1"/>
          </p:cNvGraphicFramePr>
          <p:nvPr>
            <p:extLst>
              <p:ext uri="{D42A27DB-BD31-4B8C-83A1-F6EECF244321}">
                <p14:modId xmlns:p14="http://schemas.microsoft.com/office/powerpoint/2010/main" val="3154051134"/>
              </p:ext>
            </p:extLst>
          </p:nvPr>
        </p:nvGraphicFramePr>
        <p:xfrm>
          <a:off x="-5046" y="4034533"/>
          <a:ext cx="7569629" cy="2823165"/>
        </p:xfrm>
        <a:graphic>
          <a:graphicData uri="http://schemas.openxmlformats.org/drawingml/2006/table">
            <a:tbl>
              <a:tblPr/>
              <a:tblGrid>
                <a:gridCol w="3226702">
                  <a:extLst>
                    <a:ext uri="{9D8B030D-6E8A-4147-A177-3AD203B41FA5}">
                      <a16:colId xmlns:a16="http://schemas.microsoft.com/office/drawing/2014/main" val="487666217"/>
                    </a:ext>
                  </a:extLst>
                </a:gridCol>
                <a:gridCol w="4342927">
                  <a:extLst>
                    <a:ext uri="{9D8B030D-6E8A-4147-A177-3AD203B41FA5}">
                      <a16:colId xmlns:a16="http://schemas.microsoft.com/office/drawing/2014/main" val="3044366771"/>
                    </a:ext>
                  </a:extLst>
                </a:gridCol>
              </a:tblGrid>
              <a:tr h="3548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latin typeface="Times New Roman" panose="02020603050405020304" pitchFamily="18" charset="0"/>
                          <a:ea typeface="+mn-ea"/>
                          <a:cs typeface="Times New Roman" panose="02020603050405020304" pitchFamily="18" charset="0"/>
                        </a:rPr>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tc>
                  <a:txBody>
                    <a:bodyPr/>
                    <a:lstStyle/>
                    <a:p>
                      <a:pPr marL="0" algn="l" defTabSz="914400" rtl="0" eaLnBrk="1" latinLnBrk="0" hangingPunct="1"/>
                      <a:r>
                        <a:rPr lang="en-US" sz="1800" b="1" kern="1200" dirty="0">
                          <a:solidFill>
                            <a:schemeClr val="bg1"/>
                          </a:solidFill>
                          <a:latin typeface="Times New Roman" panose="02020603050405020304" pitchFamily="18" charset="0"/>
                          <a:ea typeface="+mn-ea"/>
                          <a:cs typeface="Times New Roman" panose="02020603050405020304" pitchFamily="18" charset="0"/>
                        </a:rPr>
                        <a:t>Detail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3544836166"/>
                  </a:ext>
                </a:extLst>
              </a:tr>
              <a:tr h="354819">
                <a:tc>
                  <a:txBody>
                    <a:bodyPr/>
                    <a:lstStyle/>
                    <a:p>
                      <a:pPr marL="0" algn="l" defTabSz="914400" rtl="0" eaLnBrk="1" latinLnBrk="0" hangingPunct="1"/>
                      <a:r>
                        <a:rPr lang="en-US" sz="1800" b="0" kern="1200" dirty="0">
                          <a:solidFill>
                            <a:schemeClr val="bg1"/>
                          </a:solidFill>
                          <a:latin typeface="Times New Roman" panose="02020603050405020304" pitchFamily="18" charset="0"/>
                          <a:ea typeface="+mn-ea"/>
                          <a:cs typeface="Times New Roman" panose="02020603050405020304" pitchFamily="18" charset="0"/>
                        </a:rPr>
                        <a:t>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kern="1200" dirty="0">
                          <a:solidFill>
                            <a:sysClr val="windowText" lastClr="000000"/>
                          </a:solidFill>
                          <a:latin typeface="Times New Roman" panose="02020603050405020304" pitchFamily="18" charset="0"/>
                          <a:ea typeface="+mn-ea"/>
                          <a:cs typeface="Times New Roman" panose="02020603050405020304" pitchFamily="18" charset="0"/>
                        </a:rPr>
                        <a:t>Excel + Power BI Power Query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extLst>
                  <a:ext uri="{0D108BD9-81ED-4DB2-BD59-A6C34878D82A}">
                    <a16:rowId xmlns:a16="http://schemas.microsoft.com/office/drawing/2014/main" val="3482065703"/>
                  </a:ext>
                </a:extLst>
              </a:tr>
              <a:tr h="7700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bg1"/>
                          </a:solidFill>
                          <a:latin typeface="Times New Roman" panose="02020603050405020304" pitchFamily="18" charset="0"/>
                          <a:ea typeface="+mn-ea"/>
                          <a:cs typeface="Times New Roman" panose="02020603050405020304" pitchFamily="18" charset="0"/>
                        </a:rPr>
                        <a:t>Filters Applied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lumMod val="60000"/>
                        <a:lumOff val="40000"/>
                      </a:schemeClr>
                    </a:solidFill>
                  </a:tcPr>
                </a:tc>
                <a:tc>
                  <a:txBody>
                    <a:bodyPr/>
                    <a:lstStyle/>
                    <a:p>
                      <a:pPr marL="285750" indent="-285750" algn="l" defTabSz="914400" rtl="0" eaLnBrk="1" latinLnBrk="0" hangingPunct="1">
                        <a:buFont typeface="Wingdings" panose="05000000000000000000" pitchFamily="2" charset="2"/>
                        <a:buChar char="ü"/>
                      </a:pPr>
                      <a:r>
                        <a:rPr lang="en-US" sz="1600" b="0" kern="1200" dirty="0">
                          <a:solidFill>
                            <a:sysClr val="windowText" lastClr="000000"/>
                          </a:solidFill>
                          <a:latin typeface="Times New Roman" panose="02020603050405020304" pitchFamily="18" charset="0"/>
                          <a:ea typeface="+mn-ea"/>
                          <a:cs typeface="Times New Roman" panose="02020603050405020304" pitchFamily="18" charset="0"/>
                        </a:rPr>
                        <a:t>2010–2017</a:t>
                      </a:r>
                    </a:p>
                    <a:p>
                      <a:pPr marL="285750" indent="-285750" algn="l" defTabSz="914400" rtl="0" eaLnBrk="1" latinLnBrk="0" hangingPunct="1">
                        <a:buFont typeface="Wingdings" panose="05000000000000000000" pitchFamily="2" charset="2"/>
                        <a:buChar char="ü"/>
                      </a:pPr>
                      <a:r>
                        <a:rPr lang="en-US" sz="1600" b="0" kern="1200" dirty="0">
                          <a:solidFill>
                            <a:sysClr val="windowText" lastClr="000000"/>
                          </a:solidFill>
                          <a:latin typeface="Times New Roman" panose="02020603050405020304" pitchFamily="18" charset="0"/>
                          <a:ea typeface="+mn-ea"/>
                          <a:cs typeface="Times New Roman" panose="02020603050405020304" pitchFamily="18" charset="0"/>
                        </a:rPr>
                        <a:t>Food only</a:t>
                      </a:r>
                    </a:p>
                    <a:p>
                      <a:pPr marL="285750" indent="-285750" algn="l" defTabSz="914400" rtl="0" eaLnBrk="1" latinLnBrk="0" hangingPunct="1">
                        <a:buFont typeface="Wingdings" panose="05000000000000000000" pitchFamily="2" charset="2"/>
                        <a:buChar char="ü"/>
                      </a:pPr>
                      <a:r>
                        <a:rPr lang="en-US" sz="1600" b="0" kern="1200" dirty="0">
                          <a:solidFill>
                            <a:sysClr val="windowText" lastClr="000000"/>
                          </a:solidFill>
                          <a:latin typeface="Times New Roman" panose="02020603050405020304" pitchFamily="18" charset="0"/>
                          <a:ea typeface="+mn-ea"/>
                          <a:cs typeface="Times New Roman" panose="02020603050405020304" pitchFamily="18" charset="0"/>
                        </a:rPr>
                        <a:t>55 countries with FX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extLst>
                  <a:ext uri="{0D108BD9-81ED-4DB2-BD59-A6C34878D82A}">
                    <a16:rowId xmlns:a16="http://schemas.microsoft.com/office/drawing/2014/main" val="1967788992"/>
                  </a:ext>
                </a:extLst>
              </a:tr>
              <a:tr h="354819">
                <a:tc>
                  <a:txBody>
                    <a:bodyPr/>
                    <a:lstStyle/>
                    <a:p>
                      <a:pPr marL="0" algn="l" defTabSz="914400" rtl="0" eaLnBrk="1" latinLnBrk="0" hangingPunct="1"/>
                      <a:r>
                        <a:rPr lang="en-US" sz="1800" b="0" kern="1200" dirty="0">
                          <a:solidFill>
                            <a:schemeClr val="bg1"/>
                          </a:solidFill>
                          <a:latin typeface="Times New Roman" panose="02020603050405020304" pitchFamily="18" charset="0"/>
                          <a:ea typeface="+mn-ea"/>
                          <a:cs typeface="Times New Roman" panose="02020603050405020304" pitchFamily="18" charset="0"/>
                        </a:rPr>
                        <a:t>Date Column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lumMod val="60000"/>
                        <a:lumOff val="40000"/>
                      </a:schemeClr>
                    </a:solidFill>
                  </a:tcPr>
                </a:tc>
                <a:tc>
                  <a:txBody>
                    <a:bodyPr/>
                    <a:lstStyle/>
                    <a:p>
                      <a:pPr marL="0" algn="l" defTabSz="914400" rtl="0" eaLnBrk="1" latinLnBrk="0" hangingPunct="1"/>
                      <a:r>
                        <a:rPr lang="en-US" sz="1600" b="0" kern="1200" dirty="0">
                          <a:solidFill>
                            <a:sysClr val="windowText" lastClr="000000"/>
                          </a:solidFill>
                          <a:latin typeface="Times New Roman" panose="02020603050405020304" pitchFamily="18" charset="0"/>
                          <a:ea typeface="+mn-ea"/>
                          <a:cs typeface="Times New Roman" panose="02020603050405020304" pitchFamily="18" charset="0"/>
                        </a:rPr>
                        <a:t>Created via </a:t>
                      </a:r>
                      <a:r>
                        <a:rPr lang="en-US" sz="1600" b="0" i="1" kern="1200" dirty="0">
                          <a:solidFill>
                            <a:sysClr val="windowText" lastClr="000000"/>
                          </a:solidFill>
                          <a:latin typeface="Times New Roman" panose="02020603050405020304" pitchFamily="18" charset="0"/>
                          <a:ea typeface="+mn-ea"/>
                          <a:cs typeface="Times New Roman" panose="02020603050405020304" pitchFamily="18" charset="0"/>
                        </a:rPr>
                        <a:t>#date([Year], [Month],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extLst>
                  <a:ext uri="{0D108BD9-81ED-4DB2-BD59-A6C34878D82A}">
                    <a16:rowId xmlns:a16="http://schemas.microsoft.com/office/drawing/2014/main" val="3274680344"/>
                  </a:ext>
                </a:extLst>
              </a:tr>
              <a:tr h="354819">
                <a:tc>
                  <a:txBody>
                    <a:bodyPr/>
                    <a:lstStyle/>
                    <a:p>
                      <a:pPr marL="0" algn="l" defTabSz="914400" rtl="0" eaLnBrk="1" latinLnBrk="0" hangingPunct="1"/>
                      <a:r>
                        <a:rPr lang="en-US" sz="1800" b="0" kern="1200" dirty="0">
                          <a:solidFill>
                            <a:schemeClr val="bg1"/>
                          </a:solidFill>
                          <a:latin typeface="Times New Roman" panose="02020603050405020304" pitchFamily="18" charset="0"/>
                          <a:ea typeface="+mn-ea"/>
                          <a:cs typeface="Times New Roman" panose="02020603050405020304" pitchFamily="18" charset="0"/>
                        </a:rPr>
                        <a:t>Dimension Tables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lumMod val="60000"/>
                        <a:lumOff val="40000"/>
                      </a:schemeClr>
                    </a:solidFill>
                  </a:tcPr>
                </a:tc>
                <a:tc>
                  <a:txBody>
                    <a:bodyPr/>
                    <a:lstStyle/>
                    <a:p>
                      <a:pPr marL="0" algn="l" defTabSz="914400" rtl="0" eaLnBrk="1" latinLnBrk="0" hangingPunct="1"/>
                      <a:r>
                        <a:rPr lang="en-US" sz="1600" b="0" kern="1200" dirty="0">
                          <a:solidFill>
                            <a:sysClr val="windowText" lastClr="000000"/>
                          </a:solidFill>
                          <a:latin typeface="Times New Roman" panose="02020603050405020304" pitchFamily="18" charset="0"/>
                          <a:ea typeface="+mn-ea"/>
                          <a:cs typeface="Times New Roman" panose="02020603050405020304" pitchFamily="18" charset="0"/>
                        </a:rPr>
                        <a:t>Extracted from fact table into separate tables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extLst>
                  <a:ext uri="{0D108BD9-81ED-4DB2-BD59-A6C34878D82A}">
                    <a16:rowId xmlns:a16="http://schemas.microsoft.com/office/drawing/2014/main" val="899646447"/>
                  </a:ext>
                </a:extLst>
              </a:tr>
              <a:tr h="537165">
                <a:tc>
                  <a:txBody>
                    <a:bodyPr/>
                    <a:lstStyle/>
                    <a:p>
                      <a:pPr marL="0" algn="l" defTabSz="914400" rtl="0" eaLnBrk="1" latinLnBrk="0" hangingPunct="1"/>
                      <a:r>
                        <a:rPr lang="en-US" sz="1800" b="0" kern="1200" dirty="0">
                          <a:solidFill>
                            <a:schemeClr val="bg1"/>
                          </a:solidFill>
                          <a:latin typeface="Times New Roman" panose="02020603050405020304" pitchFamily="18" charset="0"/>
                          <a:ea typeface="+mn-ea"/>
                          <a:cs typeface="Times New Roman" panose="02020603050405020304" pitchFamily="18" charset="0"/>
                        </a:rPr>
                        <a:t>Null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accent6">
                        <a:lumMod val="60000"/>
                        <a:lumOff val="40000"/>
                      </a:schemeClr>
                    </a:solidFill>
                  </a:tcPr>
                </a:tc>
                <a:tc>
                  <a:txBody>
                    <a:bodyPr/>
                    <a:lstStyle/>
                    <a:p>
                      <a:pPr marL="0" algn="l" defTabSz="914400" rtl="0" eaLnBrk="1" latinLnBrk="0" hangingPunct="1"/>
                      <a:r>
                        <a:rPr lang="en-US" sz="1600" b="0" kern="1200" dirty="0">
                          <a:solidFill>
                            <a:sysClr val="windowText" lastClr="000000"/>
                          </a:solidFill>
                          <a:latin typeface="Times New Roman" panose="02020603050405020304" pitchFamily="18" charset="0"/>
                          <a:ea typeface="+mn-ea"/>
                          <a:cs typeface="Times New Roman" panose="02020603050405020304" pitchFamily="18" charset="0"/>
                        </a:rPr>
                        <a:t>Rows with missing prices excluded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cell3D prstMaterial="dkEdge">
                      <a:bevel/>
                      <a:lightRig rig="flood" dir="t"/>
                    </a:cell3D>
                    <a:solidFill>
                      <a:schemeClr val="tx1"/>
                    </a:solidFill>
                  </a:tcPr>
                </a:tc>
                <a:extLst>
                  <a:ext uri="{0D108BD9-81ED-4DB2-BD59-A6C34878D82A}">
                    <a16:rowId xmlns:a16="http://schemas.microsoft.com/office/drawing/2014/main" val="1693744523"/>
                  </a:ext>
                </a:extLst>
              </a:tr>
            </a:tbl>
          </a:graphicData>
        </a:graphic>
      </p:graphicFrame>
      <p:sp>
        <p:nvSpPr>
          <p:cNvPr id="15" name="TextBox 14">
            <a:extLst>
              <a:ext uri="{FF2B5EF4-FFF2-40B4-BE49-F238E27FC236}">
                <a16:creationId xmlns:a16="http://schemas.microsoft.com/office/drawing/2014/main" id="{905825DC-4CB2-400A-AAFE-BCD3C7E6F499}"/>
              </a:ext>
            </a:extLst>
          </p:cNvPr>
          <p:cNvSpPr txBox="1"/>
          <p:nvPr/>
        </p:nvSpPr>
        <p:spPr>
          <a:xfrm>
            <a:off x="1901742" y="3449930"/>
            <a:ext cx="2013033" cy="504625"/>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ETL Summary</a:t>
            </a:r>
          </a:p>
        </p:txBody>
      </p:sp>
      <p:sp>
        <p:nvSpPr>
          <p:cNvPr id="16" name="Rectangle 1">
            <a:extLst>
              <a:ext uri="{FF2B5EF4-FFF2-40B4-BE49-F238E27FC236}">
                <a16:creationId xmlns:a16="http://schemas.microsoft.com/office/drawing/2014/main" id="{FA4937A6-50D4-4B6D-8997-13B3A92C404F}"/>
              </a:ext>
            </a:extLst>
          </p:cNvPr>
          <p:cNvSpPr>
            <a:spLocks noChangeArrowheads="1"/>
          </p:cNvSpPr>
          <p:nvPr/>
        </p:nvSpPr>
        <p:spPr bwMode="auto">
          <a:xfrm>
            <a:off x="7772446" y="4131533"/>
            <a:ext cx="2199088" cy="2308324"/>
          </a:xfrm>
          <a:prstGeom prst="rect">
            <a:avLst/>
          </a:prstGeom>
          <a:solidFill>
            <a:schemeClr val="accent1">
              <a:lumMod val="20000"/>
              <a:lumOff val="8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Average Price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Price YoY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FX YoY %</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Price Volatility</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Price Acceleration</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Total Countries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Total Commodities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Total Markets</a:t>
            </a:r>
          </a:p>
          <a:p>
            <a:pPr marL="285750" marR="0" lvl="0" indent="-28575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Product Frequency</a:t>
            </a:r>
            <a:endParaRPr kumimoji="0" lang="en-US" altLang="en-US" sz="140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4FC4D3DE-01DA-47A6-824A-9AAEF19F1892}"/>
              </a:ext>
            </a:extLst>
          </p:cNvPr>
          <p:cNvSpPr txBox="1"/>
          <p:nvPr/>
        </p:nvSpPr>
        <p:spPr>
          <a:xfrm>
            <a:off x="7843773" y="3560974"/>
            <a:ext cx="1980317"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DAX Formulas</a:t>
            </a:r>
          </a:p>
        </p:txBody>
      </p:sp>
      <p:graphicFrame>
        <p:nvGraphicFramePr>
          <p:cNvPr id="19" name="Table 18">
            <a:extLst>
              <a:ext uri="{FF2B5EF4-FFF2-40B4-BE49-F238E27FC236}">
                <a16:creationId xmlns:a16="http://schemas.microsoft.com/office/drawing/2014/main" id="{FC456074-A574-4D0A-9AC4-2BCDDE3E2644}"/>
              </a:ext>
            </a:extLst>
          </p:cNvPr>
          <p:cNvGraphicFramePr>
            <a:graphicFrameLocks noGrp="1"/>
          </p:cNvGraphicFramePr>
          <p:nvPr>
            <p:extLst>
              <p:ext uri="{D42A27DB-BD31-4B8C-83A1-F6EECF244321}">
                <p14:modId xmlns:p14="http://schemas.microsoft.com/office/powerpoint/2010/main" val="366988093"/>
              </p:ext>
            </p:extLst>
          </p:nvPr>
        </p:nvGraphicFramePr>
        <p:xfrm>
          <a:off x="4951948" y="1520105"/>
          <a:ext cx="4664280" cy="1676400"/>
        </p:xfrm>
        <a:graphic>
          <a:graphicData uri="http://schemas.openxmlformats.org/drawingml/2006/table">
            <a:tbl>
              <a:tblPr/>
              <a:tblGrid>
                <a:gridCol w="2332140">
                  <a:extLst>
                    <a:ext uri="{9D8B030D-6E8A-4147-A177-3AD203B41FA5}">
                      <a16:colId xmlns:a16="http://schemas.microsoft.com/office/drawing/2014/main" val="1173637541"/>
                    </a:ext>
                  </a:extLst>
                </a:gridCol>
                <a:gridCol w="2332140">
                  <a:extLst>
                    <a:ext uri="{9D8B030D-6E8A-4147-A177-3AD203B41FA5}">
                      <a16:colId xmlns:a16="http://schemas.microsoft.com/office/drawing/2014/main" val="2254848679"/>
                    </a:ext>
                  </a:extLst>
                </a:gridCol>
              </a:tblGrid>
              <a:tr h="307381">
                <a:tc>
                  <a:txBody>
                    <a:bodyPr/>
                    <a:lstStyle/>
                    <a:p>
                      <a:r>
                        <a:rPr lang="en-US" b="1" dirty="0">
                          <a:solidFill>
                            <a:sysClr val="windowText" lastClr="000000"/>
                          </a:solidFill>
                          <a:latin typeface="Times New Roman" panose="02020603050405020304" pitchFamily="18" charset="0"/>
                          <a:cs typeface="Times New Roman" panose="02020603050405020304" pitchFamily="18" charset="0"/>
                        </a:rPr>
                        <a:t>Item</a:t>
                      </a:r>
                    </a:p>
                  </a:txBody>
                  <a:tcPr anchor="ctr">
                    <a:lnL>
                      <a:noFill/>
                    </a:lnL>
                    <a:lnR>
                      <a:noFill/>
                    </a:lnR>
                    <a:lnT>
                      <a:noFill/>
                    </a:lnT>
                    <a:lnB>
                      <a:noFill/>
                    </a:lnB>
                    <a:cell3D prstMaterial="dkEdge">
                      <a:bevel/>
                      <a:lightRig rig="flood" dir="t"/>
                    </a:cell3D>
                    <a:solidFill>
                      <a:schemeClr val="accent1">
                        <a:lumMod val="40000"/>
                        <a:lumOff val="60000"/>
                      </a:schemeClr>
                    </a:solidFill>
                  </a:tcPr>
                </a:tc>
                <a:tc>
                  <a:txBody>
                    <a:bodyPr/>
                    <a:lstStyle/>
                    <a:p>
                      <a:r>
                        <a:rPr lang="en-US" dirty="0">
                          <a:solidFill>
                            <a:sysClr val="windowText" lastClr="000000"/>
                          </a:solidFill>
                          <a:latin typeface="Times New Roman" panose="02020603050405020304" pitchFamily="18" charset="0"/>
                          <a:cs typeface="Times New Roman" panose="02020603050405020304" pitchFamily="18" charset="0"/>
                        </a:rPr>
                        <a:t>Detail</a:t>
                      </a:r>
                    </a:p>
                  </a:txBody>
                  <a:tcPr anchor="ctr">
                    <a:lnL>
                      <a:noFill/>
                    </a:lnL>
                    <a:lnR>
                      <a:noFill/>
                    </a:lnR>
                    <a:lnT>
                      <a:noFill/>
                    </a:lnT>
                    <a:lnB>
                      <a:noFill/>
                    </a:lnB>
                    <a:cell3D prstMaterial="dkEdge">
                      <a:bevel/>
                      <a:lightRig rig="flood" dir="t"/>
                    </a:cell3D>
                    <a:solidFill>
                      <a:schemeClr val="accent1">
                        <a:lumMod val="40000"/>
                        <a:lumOff val="60000"/>
                      </a:schemeClr>
                    </a:solidFill>
                  </a:tcPr>
                </a:tc>
                <a:extLst>
                  <a:ext uri="{0D108BD9-81ED-4DB2-BD59-A6C34878D82A}">
                    <a16:rowId xmlns:a16="http://schemas.microsoft.com/office/drawing/2014/main" val="2317319594"/>
                  </a:ext>
                </a:extLst>
              </a:tr>
              <a:tr h="307381">
                <a:tc>
                  <a:txBody>
                    <a:bodyPr/>
                    <a:lstStyle/>
                    <a:p>
                      <a:r>
                        <a:rPr lang="en-US" b="1" dirty="0">
                          <a:solidFill>
                            <a:sysClr val="windowText" lastClr="000000"/>
                          </a:solidFill>
                          <a:latin typeface="Times New Roman" panose="02020603050405020304" pitchFamily="18" charset="0"/>
                          <a:cs typeface="Times New Roman" panose="02020603050405020304" pitchFamily="18" charset="0"/>
                        </a:rPr>
                        <a:t>Tool</a:t>
                      </a:r>
                    </a:p>
                  </a:txBody>
                  <a:tcPr anchor="ctr">
                    <a:lnL>
                      <a:noFill/>
                    </a:lnL>
                    <a:lnR>
                      <a:noFill/>
                    </a:lnR>
                    <a:lnT>
                      <a:noFill/>
                    </a:lnT>
                    <a:lnB>
                      <a:noFill/>
                    </a:lnB>
                    <a:cell3D prstMaterial="dkEdge">
                      <a:bevel/>
                      <a:lightRig rig="flood" dir="t"/>
                    </a:cell3D>
                    <a:solidFill>
                      <a:schemeClr val="accent6">
                        <a:lumMod val="60000"/>
                        <a:lumOff val="40000"/>
                      </a:schemeClr>
                    </a:solidFill>
                  </a:tcPr>
                </a:tc>
                <a:tc>
                  <a:txBody>
                    <a:bodyPr/>
                    <a:lstStyle/>
                    <a:p>
                      <a:r>
                        <a:rPr lang="en-US" sz="1600" dirty="0">
                          <a:solidFill>
                            <a:sysClr val="windowText" lastClr="000000"/>
                          </a:solidFill>
                          <a:latin typeface="Times New Roman" panose="02020603050405020304" pitchFamily="18" charset="0"/>
                          <a:cs typeface="Times New Roman" panose="02020603050405020304" pitchFamily="18" charset="0"/>
                        </a:rPr>
                        <a:t>Power BI Desktop + Excel</a:t>
                      </a:r>
                    </a:p>
                  </a:txBody>
                  <a:tcPr anchor="ctr">
                    <a:lnL>
                      <a:noFill/>
                    </a:lnL>
                    <a:lnR>
                      <a:noFill/>
                    </a:lnR>
                    <a:lnT>
                      <a:noFill/>
                    </a:lnT>
                    <a:lnB>
                      <a:noFill/>
                    </a:lnB>
                    <a:cell3D prstMaterial="dkEdge">
                      <a:bevel/>
                      <a:lightRig rig="flood" dir="t"/>
                    </a:cell3D>
                    <a:solidFill>
                      <a:schemeClr val="tx1">
                        <a:lumMod val="95000"/>
                      </a:schemeClr>
                    </a:solidFill>
                  </a:tcPr>
                </a:tc>
                <a:extLst>
                  <a:ext uri="{0D108BD9-81ED-4DB2-BD59-A6C34878D82A}">
                    <a16:rowId xmlns:a16="http://schemas.microsoft.com/office/drawing/2014/main" val="4279405542"/>
                  </a:ext>
                </a:extLst>
              </a:tr>
              <a:tr h="307381">
                <a:tc>
                  <a:txBody>
                    <a:bodyPr/>
                    <a:lstStyle/>
                    <a:p>
                      <a:r>
                        <a:rPr lang="en-US" b="1" dirty="0">
                          <a:solidFill>
                            <a:sysClr val="windowText" lastClr="000000"/>
                          </a:solidFill>
                          <a:latin typeface="Times New Roman" panose="02020603050405020304" pitchFamily="18" charset="0"/>
                          <a:cs typeface="Times New Roman" panose="02020603050405020304" pitchFamily="18" charset="0"/>
                        </a:rPr>
                        <a:t>Refresh</a:t>
                      </a:r>
                    </a:p>
                  </a:txBody>
                  <a:tcPr anchor="ctr">
                    <a:lnL>
                      <a:noFill/>
                    </a:lnL>
                    <a:lnR>
                      <a:noFill/>
                    </a:lnR>
                    <a:lnT>
                      <a:noFill/>
                    </a:lnT>
                    <a:lnB>
                      <a:noFill/>
                    </a:lnB>
                    <a:cell3D prstMaterial="dkEdge">
                      <a:bevel/>
                      <a:lightRig rig="flood" dir="t"/>
                    </a:cell3D>
                    <a:solidFill>
                      <a:schemeClr val="accent6">
                        <a:lumMod val="60000"/>
                        <a:lumOff val="40000"/>
                      </a:schemeClr>
                    </a:solidFill>
                  </a:tcPr>
                </a:tc>
                <a:tc>
                  <a:txBody>
                    <a:bodyPr/>
                    <a:lstStyle/>
                    <a:p>
                      <a:r>
                        <a:rPr lang="en-US" sz="1600" dirty="0">
                          <a:solidFill>
                            <a:sysClr val="windowText" lastClr="000000"/>
                          </a:solidFill>
                          <a:latin typeface="Times New Roman" panose="02020603050405020304" pitchFamily="18" charset="0"/>
                          <a:cs typeface="Times New Roman" panose="02020603050405020304" pitchFamily="18" charset="0"/>
                        </a:rPr>
                        <a:t>Static — one-time load</a:t>
                      </a:r>
                    </a:p>
                  </a:txBody>
                  <a:tcPr anchor="ctr">
                    <a:lnL>
                      <a:noFill/>
                    </a:lnL>
                    <a:lnR>
                      <a:noFill/>
                    </a:lnR>
                    <a:lnT>
                      <a:noFill/>
                    </a:lnT>
                    <a:lnB>
                      <a:noFill/>
                    </a:lnB>
                    <a:cell3D prstMaterial="dkEdge">
                      <a:bevel/>
                      <a:lightRig rig="flood" dir="t"/>
                    </a:cell3D>
                    <a:solidFill>
                      <a:schemeClr val="tx1">
                        <a:lumMod val="95000"/>
                      </a:schemeClr>
                    </a:solidFill>
                  </a:tcPr>
                </a:tc>
                <a:extLst>
                  <a:ext uri="{0D108BD9-81ED-4DB2-BD59-A6C34878D82A}">
                    <a16:rowId xmlns:a16="http://schemas.microsoft.com/office/drawing/2014/main" val="3828264888"/>
                  </a:ext>
                </a:extLst>
              </a:tr>
              <a:tr h="307381">
                <a:tc>
                  <a:txBody>
                    <a:bodyPr/>
                    <a:lstStyle/>
                    <a:p>
                      <a:r>
                        <a:rPr lang="en-US" b="1" dirty="0">
                          <a:solidFill>
                            <a:sysClr val="windowText" lastClr="000000"/>
                          </a:solidFill>
                          <a:latin typeface="Times New Roman" panose="02020603050405020304" pitchFamily="18" charset="0"/>
                          <a:cs typeface="Times New Roman" panose="02020603050405020304" pitchFamily="18" charset="0"/>
                        </a:rPr>
                        <a:t>Currency</a:t>
                      </a:r>
                    </a:p>
                  </a:txBody>
                  <a:tcPr anchor="ctr">
                    <a:lnL>
                      <a:noFill/>
                    </a:lnL>
                    <a:lnR>
                      <a:noFill/>
                    </a:lnR>
                    <a:lnT>
                      <a:noFill/>
                    </a:lnT>
                    <a:lnB>
                      <a:noFill/>
                    </a:lnB>
                    <a:cell3D prstMaterial="dkEdge">
                      <a:bevel/>
                      <a:lightRig rig="flood" dir="t"/>
                    </a:cell3D>
                    <a:solidFill>
                      <a:schemeClr val="accent6">
                        <a:lumMod val="60000"/>
                        <a:lumOff val="40000"/>
                      </a:schemeClr>
                    </a:solidFill>
                  </a:tcPr>
                </a:tc>
                <a:tc>
                  <a:txBody>
                    <a:bodyPr/>
                    <a:lstStyle/>
                    <a:p>
                      <a:r>
                        <a:rPr lang="en-US" sz="1600" dirty="0">
                          <a:solidFill>
                            <a:sysClr val="windowText" lastClr="000000"/>
                          </a:solidFill>
                          <a:latin typeface="Times New Roman" panose="02020603050405020304" pitchFamily="18" charset="0"/>
                          <a:cs typeface="Times New Roman" panose="02020603050405020304" pitchFamily="18" charset="0"/>
                        </a:rPr>
                        <a:t>USD</a:t>
                      </a:r>
                    </a:p>
                  </a:txBody>
                  <a:tcPr anchor="ctr">
                    <a:lnL>
                      <a:noFill/>
                    </a:lnL>
                    <a:lnR>
                      <a:noFill/>
                    </a:lnR>
                    <a:lnT>
                      <a:noFill/>
                    </a:lnT>
                    <a:lnB>
                      <a:noFill/>
                    </a:lnB>
                    <a:cell3D prstMaterial="dkEdge">
                      <a:bevel/>
                      <a:lightRig rig="flood" dir="t"/>
                    </a:cell3D>
                    <a:solidFill>
                      <a:schemeClr val="tx1">
                        <a:lumMod val="95000"/>
                      </a:schemeClr>
                    </a:solidFill>
                  </a:tcPr>
                </a:tc>
                <a:extLst>
                  <a:ext uri="{0D108BD9-81ED-4DB2-BD59-A6C34878D82A}">
                    <a16:rowId xmlns:a16="http://schemas.microsoft.com/office/drawing/2014/main" val="1614627469"/>
                  </a:ext>
                </a:extLst>
              </a:tr>
            </a:tbl>
          </a:graphicData>
        </a:graphic>
      </p:graphicFrame>
      <p:sp>
        <p:nvSpPr>
          <p:cNvPr id="20" name="TextBox 19">
            <a:extLst>
              <a:ext uri="{FF2B5EF4-FFF2-40B4-BE49-F238E27FC236}">
                <a16:creationId xmlns:a16="http://schemas.microsoft.com/office/drawing/2014/main" id="{5B98E102-EF02-4C1A-9FCD-395749108469}"/>
              </a:ext>
            </a:extLst>
          </p:cNvPr>
          <p:cNvSpPr txBox="1"/>
          <p:nvPr/>
        </p:nvSpPr>
        <p:spPr>
          <a:xfrm>
            <a:off x="5374174" y="823158"/>
            <a:ext cx="1909914" cy="498663"/>
          </a:xfrm>
          <a:prstGeom prst="rect">
            <a:avLst/>
          </a:prstGeom>
          <a:solidFill>
            <a:schemeClr val="accent5">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a:spAutoFit/>
          </a:bodyPr>
          <a:lstStyle/>
          <a:p>
            <a:pPr algn="ctr">
              <a:lnSpc>
                <a:spcPct val="150000"/>
              </a:lnSpc>
            </a:pPr>
            <a:r>
              <a:rPr lang="en-US" sz="2000" b="1" dirty="0">
                <a:solidFill>
                  <a:schemeClr val="bg1"/>
                </a:solidFill>
                <a:latin typeface="Times New Roman" panose="02020603050405020304" pitchFamily="18" charset="0"/>
                <a:cs typeface="Times New Roman" panose="02020603050405020304" pitchFamily="18" charset="0"/>
              </a:rPr>
              <a:t>Environment</a:t>
            </a:r>
          </a:p>
        </p:txBody>
      </p:sp>
    </p:spTree>
    <p:extLst>
      <p:ext uri="{BB962C8B-B14F-4D97-AF65-F5344CB8AC3E}">
        <p14:creationId xmlns:p14="http://schemas.microsoft.com/office/powerpoint/2010/main" val="832310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CC1B7671-C6A0-4BB8-8B9A-71A2DD4B1CFE}"/>
              </a:ext>
            </a:extLst>
          </p:cNvPr>
          <p:cNvGrpSpPr/>
          <p:nvPr/>
        </p:nvGrpSpPr>
        <p:grpSpPr>
          <a:xfrm>
            <a:off x="139436" y="161883"/>
            <a:ext cx="3470540" cy="6591342"/>
            <a:chOff x="139434" y="161883"/>
            <a:chExt cx="3721365" cy="6188117"/>
          </a:xfrm>
        </p:grpSpPr>
        <p:sp>
          <p:nvSpPr>
            <p:cNvPr id="5" name="Rectangle 4">
              <a:extLst>
                <a:ext uri="{FF2B5EF4-FFF2-40B4-BE49-F238E27FC236}">
                  <a16:creationId xmlns:a16="http://schemas.microsoft.com/office/drawing/2014/main" id="{C5A08615-29BF-4549-A907-8C0519C5A120}"/>
                </a:ext>
              </a:extLst>
            </p:cNvPr>
            <p:cNvSpPr/>
            <p:nvPr/>
          </p:nvSpPr>
          <p:spPr>
            <a:xfrm>
              <a:off x="139434" y="161883"/>
              <a:ext cx="3721365" cy="6188117"/>
            </a:xfrm>
            <a:prstGeom prst="rect">
              <a:avLst/>
            </a:prstGeom>
            <a:solidFill>
              <a:schemeClr val="accent1">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15C1289-DBE2-43D7-9648-8598A725FEE3}"/>
                </a:ext>
              </a:extLst>
            </p:cNvPr>
            <p:cNvSpPr txBox="1"/>
            <p:nvPr/>
          </p:nvSpPr>
          <p:spPr>
            <a:xfrm>
              <a:off x="728130" y="385979"/>
              <a:ext cx="2543970" cy="1390564"/>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Assumptions</a:t>
              </a:r>
            </a:p>
          </p:txBody>
        </p:sp>
        <p:sp>
          <p:nvSpPr>
            <p:cNvPr id="3" name="TextBox 2">
              <a:extLst>
                <a:ext uri="{FF2B5EF4-FFF2-40B4-BE49-F238E27FC236}">
                  <a16:creationId xmlns:a16="http://schemas.microsoft.com/office/drawing/2014/main" id="{45638C36-FE90-439C-8BF9-A9D82D94B81E}"/>
                </a:ext>
              </a:extLst>
            </p:cNvPr>
            <p:cNvSpPr txBox="1"/>
            <p:nvPr/>
          </p:nvSpPr>
          <p:spPr>
            <a:xfrm>
              <a:off x="314520" y="1314543"/>
              <a:ext cx="3371191" cy="4899480"/>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Time Period: </a:t>
              </a:r>
              <a:r>
                <a:rPr lang="en-US" sz="1600" dirty="0">
                  <a:solidFill>
                    <a:schemeClr val="bg1"/>
                  </a:solidFill>
                  <a:latin typeface="Times New Roman" panose="02020603050405020304" pitchFamily="18" charset="0"/>
                  <a:cs typeface="Times New Roman" panose="02020603050405020304" pitchFamily="18" charset="0"/>
                </a:rPr>
                <a:t>Data covers 2010 – 2017</a:t>
              </a:r>
            </a:p>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Commodities: </a:t>
              </a:r>
              <a:r>
                <a:rPr lang="en-US" sz="1600" dirty="0">
                  <a:solidFill>
                    <a:schemeClr val="bg1"/>
                  </a:solidFill>
                  <a:latin typeface="Times New Roman" panose="02020603050405020304" pitchFamily="18" charset="0"/>
                  <a:cs typeface="Times New Roman" panose="02020603050405020304" pitchFamily="18" charset="0"/>
                </a:rPr>
                <a:t>Focus is on food items only</a:t>
              </a:r>
            </a:p>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Currency: </a:t>
              </a:r>
              <a:r>
                <a:rPr lang="en-US" sz="1600" dirty="0">
                  <a:solidFill>
                    <a:schemeClr val="bg1"/>
                  </a:solidFill>
                  <a:latin typeface="Times New Roman" panose="02020603050405020304" pitchFamily="18" charset="0"/>
                  <a:cs typeface="Times New Roman" panose="02020603050405020304" pitchFamily="18" charset="0"/>
                </a:rPr>
                <a:t>All prices converted to US dollars for fair comparison.</a:t>
              </a:r>
            </a:p>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Exchange rates: </a:t>
              </a:r>
              <a:r>
                <a:rPr lang="en-US" sz="1600" dirty="0">
                  <a:solidFill>
                    <a:schemeClr val="bg1"/>
                  </a:solidFill>
                  <a:latin typeface="Times New Roman" panose="02020603050405020304" pitchFamily="18" charset="0"/>
                  <a:cs typeface="Times New Roman" panose="02020603050405020304" pitchFamily="18" charset="0"/>
                </a:rPr>
                <a:t>World Bank gives rates by year. For monthly prices, the yearly average was used.</a:t>
              </a:r>
            </a:p>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Volatility: </a:t>
              </a:r>
              <a:r>
                <a:rPr lang="en-US" sz="1600" dirty="0">
                  <a:solidFill>
                    <a:schemeClr val="bg1"/>
                  </a:solidFill>
                  <a:latin typeface="Times New Roman" panose="02020603050405020304" pitchFamily="18" charset="0"/>
                  <a:cs typeface="Times New Roman" panose="02020603050405020304" pitchFamily="18" charset="0"/>
                </a:rPr>
                <a:t>Measured by standard deviation, showing stable vs unstable foods.</a:t>
              </a:r>
            </a:p>
          </p:txBody>
        </p:sp>
      </p:grpSp>
      <p:grpSp>
        <p:nvGrpSpPr>
          <p:cNvPr id="16" name="Group 15">
            <a:extLst>
              <a:ext uri="{FF2B5EF4-FFF2-40B4-BE49-F238E27FC236}">
                <a16:creationId xmlns:a16="http://schemas.microsoft.com/office/drawing/2014/main" id="{02121FFA-FB92-4152-B22E-9B80D2A59970}"/>
              </a:ext>
            </a:extLst>
          </p:cNvPr>
          <p:cNvGrpSpPr/>
          <p:nvPr/>
        </p:nvGrpSpPr>
        <p:grpSpPr>
          <a:xfrm>
            <a:off x="3728312" y="161883"/>
            <a:ext cx="4672738" cy="6591342"/>
            <a:chOff x="3728312" y="161883"/>
            <a:chExt cx="4672738" cy="6591342"/>
          </a:xfrm>
        </p:grpSpPr>
        <p:sp>
          <p:nvSpPr>
            <p:cNvPr id="10" name="Rectangle 9">
              <a:extLst>
                <a:ext uri="{FF2B5EF4-FFF2-40B4-BE49-F238E27FC236}">
                  <a16:creationId xmlns:a16="http://schemas.microsoft.com/office/drawing/2014/main" id="{0D4DCBDE-DDE4-4310-9724-FEAAEEAAE80E}"/>
                </a:ext>
              </a:extLst>
            </p:cNvPr>
            <p:cNvSpPr/>
            <p:nvPr/>
          </p:nvSpPr>
          <p:spPr>
            <a:xfrm>
              <a:off x="3728312" y="161883"/>
              <a:ext cx="4672738" cy="6591342"/>
            </a:xfrm>
            <a:prstGeom prst="rect">
              <a:avLst/>
            </a:prstGeom>
            <a:solidFill>
              <a:schemeClr val="accent1">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6F5F4AE-C510-4B02-9742-695A1E301C56}"/>
                </a:ext>
              </a:extLst>
            </p:cNvPr>
            <p:cNvSpPr txBox="1"/>
            <p:nvPr/>
          </p:nvSpPr>
          <p:spPr>
            <a:xfrm>
              <a:off x="3894671" y="428629"/>
              <a:ext cx="4402657" cy="661207"/>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2800" b="1" dirty="0">
                  <a:solidFill>
                    <a:schemeClr val="bg1"/>
                  </a:solidFill>
                  <a:latin typeface="Times New Roman" panose="02020603050405020304" pitchFamily="18" charset="0"/>
                  <a:cs typeface="Times New Roman" panose="02020603050405020304" pitchFamily="18" charset="0"/>
                </a:rPr>
                <a:t>User Accessibility Design</a:t>
              </a:r>
            </a:p>
          </p:txBody>
        </p:sp>
        <p:sp>
          <p:nvSpPr>
            <p:cNvPr id="12" name="TextBox 11">
              <a:extLst>
                <a:ext uri="{FF2B5EF4-FFF2-40B4-BE49-F238E27FC236}">
                  <a16:creationId xmlns:a16="http://schemas.microsoft.com/office/drawing/2014/main" id="{8BA55D9B-274B-4D90-B271-C1526DA7AE29}"/>
                </a:ext>
              </a:extLst>
            </p:cNvPr>
            <p:cNvSpPr txBox="1"/>
            <p:nvPr/>
          </p:nvSpPr>
          <p:spPr>
            <a:xfrm>
              <a:off x="4022285" y="1389652"/>
              <a:ext cx="3592556" cy="5218736"/>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Interactive slicers: </a:t>
              </a:r>
              <a:r>
                <a:rPr lang="en-US" sz="1600" dirty="0">
                  <a:solidFill>
                    <a:schemeClr val="bg1"/>
                  </a:solidFill>
                  <a:latin typeface="Times New Roman" panose="02020603050405020304" pitchFamily="18" charset="0"/>
                  <a:cs typeface="Times New Roman" panose="02020603050405020304" pitchFamily="18" charset="0"/>
                </a:rPr>
                <a:t>All dashboards have slicers for market type and continent. This lets one focus on the parts that matter most to them</a:t>
              </a:r>
              <a:r>
                <a:rPr lang="en-US" sz="1600" b="1" dirty="0">
                  <a:solidFill>
                    <a:schemeClr val="bg1"/>
                  </a:solidFill>
                  <a:latin typeface="Times New Roman" panose="02020603050405020304" pitchFamily="18" charset="0"/>
                  <a:cs typeface="Times New Roman" panose="02020603050405020304" pitchFamily="18" charset="0"/>
                </a:rPr>
                <a:t>.</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Visual variety: </a:t>
              </a:r>
              <a:r>
                <a:rPr lang="en-US" sz="1600" dirty="0">
                  <a:solidFill>
                    <a:schemeClr val="bg1"/>
                  </a:solidFill>
                  <a:latin typeface="Times New Roman" panose="02020603050405020304" pitchFamily="18" charset="0"/>
                  <a:cs typeface="Times New Roman" panose="02020603050405020304" pitchFamily="18" charset="0"/>
                </a:rPr>
                <a:t>Data is shown in many ways. There are bars, lines, pies, scatter plots, and tables. This gives users options depending on how they like to see information.</a:t>
              </a:r>
            </a:p>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Consistent filters</a:t>
              </a:r>
              <a:r>
                <a:rPr lang="en-US" sz="1600" dirty="0">
                  <a:solidFill>
                    <a:schemeClr val="bg1"/>
                  </a:solidFill>
                  <a:latin typeface="Times New Roman" panose="02020603050405020304" pitchFamily="18" charset="0"/>
                  <a:cs typeface="Times New Roman" panose="02020603050405020304" pitchFamily="18" charset="0"/>
                </a:rPr>
                <a:t> All pages use the same filters: years 2010 to 2017, food items only, and 55 countries. This keeps everything aligned and easy to follow.</a:t>
              </a:r>
            </a:p>
          </p:txBody>
        </p:sp>
      </p:grpSp>
      <p:grpSp>
        <p:nvGrpSpPr>
          <p:cNvPr id="19" name="Group 18">
            <a:extLst>
              <a:ext uri="{FF2B5EF4-FFF2-40B4-BE49-F238E27FC236}">
                <a16:creationId xmlns:a16="http://schemas.microsoft.com/office/drawing/2014/main" id="{44B6178C-9D09-49A2-8363-36B1D8FCF150}"/>
              </a:ext>
            </a:extLst>
          </p:cNvPr>
          <p:cNvGrpSpPr/>
          <p:nvPr/>
        </p:nvGrpSpPr>
        <p:grpSpPr>
          <a:xfrm>
            <a:off x="8567409" y="161883"/>
            <a:ext cx="3533177" cy="4800642"/>
            <a:chOff x="8519387" y="161883"/>
            <a:chExt cx="3533177" cy="4800642"/>
          </a:xfrm>
        </p:grpSpPr>
        <p:sp>
          <p:nvSpPr>
            <p:cNvPr id="13" name="Rectangle 12">
              <a:extLst>
                <a:ext uri="{FF2B5EF4-FFF2-40B4-BE49-F238E27FC236}">
                  <a16:creationId xmlns:a16="http://schemas.microsoft.com/office/drawing/2014/main" id="{11D24553-3849-47ED-9038-F90D9736FFF5}"/>
                </a:ext>
              </a:extLst>
            </p:cNvPr>
            <p:cNvSpPr/>
            <p:nvPr/>
          </p:nvSpPr>
          <p:spPr>
            <a:xfrm>
              <a:off x="8519387" y="161883"/>
              <a:ext cx="3533177" cy="4800642"/>
            </a:xfrm>
            <a:prstGeom prst="rect">
              <a:avLst/>
            </a:prstGeom>
            <a:solidFill>
              <a:schemeClr val="accent1">
                <a:lumMod val="60000"/>
                <a:lumOff val="40000"/>
              </a:schemeClr>
            </a:solidFill>
            <a:ln w="12700">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306D4DC2-FD22-439E-A54C-5E5A7742FC11}"/>
                </a:ext>
              </a:extLst>
            </p:cNvPr>
            <p:cNvSpPr txBox="1"/>
            <p:nvPr/>
          </p:nvSpPr>
          <p:spPr>
            <a:xfrm>
              <a:off x="8644798" y="1389652"/>
              <a:ext cx="3282351" cy="3372077"/>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Public data:</a:t>
              </a:r>
              <a:r>
                <a:rPr lang="en-US" sz="1600" dirty="0">
                  <a:solidFill>
                    <a:schemeClr val="bg1"/>
                  </a:solidFill>
                  <a:latin typeface="Times New Roman" panose="02020603050405020304" pitchFamily="18" charset="0"/>
                  <a:cs typeface="Times New Roman" panose="02020603050405020304" pitchFamily="18" charset="0"/>
                </a:rPr>
                <a:t> The project only uses open sources: Kaggle for food prices and the World Bank for exchange rates. No personal details are included.</a:t>
              </a:r>
            </a:p>
            <a:p>
              <a:pPr marL="285750" indent="-285750">
                <a:lnSpc>
                  <a:spcPct val="150000"/>
                </a:lnSpc>
                <a:buFont typeface="Wingdings" panose="05000000000000000000" pitchFamily="2" charset="2"/>
                <a:buChar char="q"/>
              </a:pPr>
              <a:r>
                <a:rPr lang="en-US" sz="1600" b="1" dirty="0">
                  <a:solidFill>
                    <a:schemeClr val="bg1"/>
                  </a:solidFill>
                  <a:latin typeface="Times New Roman" panose="02020603050405020304" pitchFamily="18" charset="0"/>
                  <a:cs typeface="Times New Roman" panose="02020603050405020304" pitchFamily="18" charset="0"/>
                </a:rPr>
                <a:t>Intended use</a:t>
              </a:r>
              <a:r>
                <a:rPr lang="en-US" sz="1600" dirty="0">
                  <a:solidFill>
                    <a:schemeClr val="bg1"/>
                  </a:solidFill>
                  <a:latin typeface="Times New Roman" panose="02020603050405020304" pitchFamily="18" charset="0"/>
                  <a:cs typeface="Times New Roman" panose="02020603050405020304" pitchFamily="18" charset="0"/>
                </a:rPr>
                <a:t> The report is for policy, research, and market analysis. It’s not for resale without credit to the sources.</a:t>
              </a:r>
            </a:p>
          </p:txBody>
        </p:sp>
        <p:sp>
          <p:nvSpPr>
            <p:cNvPr id="17" name="TextBox 16">
              <a:extLst>
                <a:ext uri="{FF2B5EF4-FFF2-40B4-BE49-F238E27FC236}">
                  <a16:creationId xmlns:a16="http://schemas.microsoft.com/office/drawing/2014/main" id="{DE6D8DBA-5BA7-4767-944A-13E0E904FBB8}"/>
                </a:ext>
              </a:extLst>
            </p:cNvPr>
            <p:cNvSpPr txBox="1"/>
            <p:nvPr/>
          </p:nvSpPr>
          <p:spPr>
            <a:xfrm>
              <a:off x="8606928" y="459085"/>
              <a:ext cx="3358092" cy="600293"/>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2500" b="1" dirty="0">
                  <a:solidFill>
                    <a:schemeClr val="bg1"/>
                  </a:solidFill>
                  <a:latin typeface="Times New Roman" panose="02020603050405020304" pitchFamily="18" charset="0"/>
                  <a:cs typeface="Times New Roman" panose="02020603050405020304" pitchFamily="18" charset="0"/>
                </a:rPr>
                <a:t>Privacy Considerations</a:t>
              </a:r>
            </a:p>
          </p:txBody>
        </p:sp>
      </p:grpSp>
    </p:spTree>
    <p:extLst>
      <p:ext uri="{BB962C8B-B14F-4D97-AF65-F5344CB8AC3E}">
        <p14:creationId xmlns:p14="http://schemas.microsoft.com/office/powerpoint/2010/main" val="568456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0A1C0B-963B-4670-B87B-4312C86E9F5F}"/>
              </a:ext>
            </a:extLst>
          </p:cNvPr>
          <p:cNvSpPr txBox="1"/>
          <p:nvPr/>
        </p:nvSpPr>
        <p:spPr>
          <a:xfrm>
            <a:off x="4997052" y="124044"/>
            <a:ext cx="2197895" cy="742511"/>
          </a:xfrm>
          <a:prstGeom prst="rect">
            <a:avLst/>
          </a:prstGeom>
          <a:solidFill>
            <a:schemeClr val="accent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p>
            <a:pPr>
              <a:lnSpc>
                <a:spcPct val="150000"/>
              </a:lnSpc>
            </a:pPr>
            <a:r>
              <a:rPr lang="en-US" sz="3200" b="1" dirty="0">
                <a:solidFill>
                  <a:schemeClr val="bg1"/>
                </a:solidFill>
                <a:latin typeface="Times New Roman" panose="02020603050405020304" pitchFamily="18" charset="0"/>
                <a:cs typeface="Times New Roman" panose="02020603050405020304" pitchFamily="18" charset="0"/>
              </a:rPr>
              <a:t>Challenges</a:t>
            </a:r>
          </a:p>
        </p:txBody>
      </p:sp>
      <p:sp>
        <p:nvSpPr>
          <p:cNvPr id="4" name="TextBox 3">
            <a:extLst>
              <a:ext uri="{FF2B5EF4-FFF2-40B4-BE49-F238E27FC236}">
                <a16:creationId xmlns:a16="http://schemas.microsoft.com/office/drawing/2014/main" id="{666014C1-160A-4649-A7E5-A84D634916F0}"/>
              </a:ext>
            </a:extLst>
          </p:cNvPr>
          <p:cNvSpPr txBox="1"/>
          <p:nvPr/>
        </p:nvSpPr>
        <p:spPr>
          <a:xfrm>
            <a:off x="656864" y="960729"/>
            <a:ext cx="10878269" cy="2633413"/>
          </a:xfrm>
          <a:prstGeom prst="rect">
            <a:avLst/>
          </a:prstGeom>
          <a:solidFill>
            <a:schemeClr val="accent1">
              <a:lumMod val="20000"/>
              <a:lumOff val="80000"/>
            </a:schemeClr>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rtlCol="0">
            <a:spAutoFit/>
          </a:bodyPr>
          <a:lstStyle/>
          <a:p>
            <a:pPr marL="285750" indent="-285750">
              <a:lnSpc>
                <a:spcPct val="150000"/>
              </a:lnSpc>
              <a:buFont typeface="Courier New" panose="02070309020205020404" pitchFamily="49" charset="0"/>
              <a:buChar char="o"/>
            </a:pPr>
            <a:r>
              <a:rPr lang="en-US" sz="1600" dirty="0">
                <a:solidFill>
                  <a:schemeClr val="bg1"/>
                </a:solidFill>
                <a:latin typeface="Times New Roman" panose="02020603050405020304" pitchFamily="18" charset="0"/>
                <a:cs typeface="Times New Roman" panose="02020603050405020304" pitchFamily="18" charset="0"/>
              </a:rPr>
              <a:t>Combining the 2 data sources was difficult</a:t>
            </a:r>
          </a:p>
          <a:p>
            <a:pPr marL="285750" indent="-285750">
              <a:lnSpc>
                <a:spcPct val="150000"/>
              </a:lnSpc>
              <a:buFont typeface="Courier New" panose="02070309020205020404" pitchFamily="49" charset="0"/>
              <a:buChar char="o"/>
            </a:pPr>
            <a:r>
              <a:rPr lang="en-US" sz="1600" dirty="0">
                <a:solidFill>
                  <a:schemeClr val="bg1"/>
                </a:solidFill>
                <a:latin typeface="Times New Roman" panose="02020603050405020304" pitchFamily="18" charset="0"/>
                <a:cs typeface="Times New Roman" panose="02020603050405020304" pitchFamily="18" charset="0"/>
              </a:rPr>
              <a:t>Food prices were monthly. Exchange rates were yearly. This mismatch made alignment hard</a:t>
            </a:r>
          </a:p>
          <a:p>
            <a:pPr marL="285750" indent="-285750">
              <a:lnSpc>
                <a:spcPct val="150000"/>
              </a:lnSpc>
              <a:buFont typeface="Courier New" panose="02070309020205020404" pitchFamily="49" charset="0"/>
              <a:buChar char="o"/>
            </a:pPr>
            <a:r>
              <a:rPr lang="en-US" sz="1600" dirty="0">
                <a:solidFill>
                  <a:schemeClr val="bg1"/>
                </a:solidFill>
                <a:latin typeface="Times New Roman" panose="02020603050405020304" pitchFamily="18" charset="0"/>
                <a:cs typeface="Times New Roman" panose="02020603050405020304" pitchFamily="18" charset="0"/>
              </a:rPr>
              <a:t>Incorrect relationships between Market_Prices (Fact table), Calendar, and Exchange Rates, resulted to some DAX formula producing incorrect results e.g. Price YoY %, FX YoY %</a:t>
            </a:r>
          </a:p>
          <a:p>
            <a:pPr marL="285750" indent="-285750">
              <a:lnSpc>
                <a:spcPct val="150000"/>
              </a:lnSpc>
              <a:buFont typeface="Courier New" panose="02070309020205020404" pitchFamily="49" charset="0"/>
              <a:buChar char="o"/>
            </a:pPr>
            <a:r>
              <a:rPr lang="en-US" sz="1600" dirty="0">
                <a:solidFill>
                  <a:schemeClr val="bg1"/>
                </a:solidFill>
                <a:latin typeface="Times New Roman" panose="02020603050405020304" pitchFamily="18" charset="0"/>
                <a:cs typeface="Times New Roman" panose="02020603050405020304" pitchFamily="18" charset="0"/>
              </a:rPr>
              <a:t>Visualizing FX YoY % and Price YoY % in a single line &amp; column visual proved difficult</a:t>
            </a:r>
          </a:p>
          <a:p>
            <a:pPr marL="285750" indent="-285750">
              <a:lnSpc>
                <a:spcPct val="150000"/>
              </a:lnSpc>
              <a:buFont typeface="Courier New" panose="02070309020205020404" pitchFamily="49" charset="0"/>
              <a:buChar char="o"/>
            </a:pPr>
            <a:r>
              <a:rPr lang="en-US" sz="1600" dirty="0">
                <a:solidFill>
                  <a:schemeClr val="bg1"/>
                </a:solidFill>
                <a:latin typeface="Times New Roman" panose="02020603050405020304" pitchFamily="18" charset="0"/>
                <a:cs typeface="Times New Roman" panose="02020603050405020304" pitchFamily="18" charset="0"/>
              </a:rPr>
              <a:t>The original dataset contained local currencies for 55+ countries. Analyzing the data with these local currencies gave inaccurate results.</a:t>
            </a:r>
          </a:p>
        </p:txBody>
      </p:sp>
      <p:sp>
        <p:nvSpPr>
          <p:cNvPr id="6" name="TextBox 5">
            <a:extLst>
              <a:ext uri="{FF2B5EF4-FFF2-40B4-BE49-F238E27FC236}">
                <a16:creationId xmlns:a16="http://schemas.microsoft.com/office/drawing/2014/main" id="{453220AE-E3AB-447B-9F09-4D3A683CBF0D}"/>
              </a:ext>
            </a:extLst>
          </p:cNvPr>
          <p:cNvSpPr txBox="1"/>
          <p:nvPr/>
        </p:nvSpPr>
        <p:spPr>
          <a:xfrm>
            <a:off x="1147760" y="3943350"/>
            <a:ext cx="9896475" cy="1862048"/>
          </a:xfrm>
          <a:prstGeom prst="rect">
            <a:avLst/>
          </a:prstGeom>
          <a:noFill/>
        </p:spPr>
        <p:txBody>
          <a:bodyPr wrap="square" rtlCol="0">
            <a:spAutoFit/>
          </a:bodyPr>
          <a:lstStyle/>
          <a:p>
            <a:r>
              <a:rPr lang="en-US" sz="115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817490076"/>
      </p:ext>
    </p:extLst>
  </p:cSld>
  <p:clrMapOvr>
    <a:masterClrMapping/>
  </p:clrMapOvr>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2336</TotalTime>
  <Words>1754</Words>
  <Application>Microsoft Office PowerPoint</Application>
  <PresentationFormat>Widescreen</PresentationFormat>
  <Paragraphs>223</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Courier New</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Miriam Mwongela</dc:creator>
  <cp:lastModifiedBy>Miriam Mwongela</cp:lastModifiedBy>
  <cp:revision>13</cp:revision>
  <dcterms:created xsi:type="dcterms:W3CDTF">2026-06-10T19:01:34Z</dcterms:created>
  <dcterms:modified xsi:type="dcterms:W3CDTF">2026-06-14T07:56:20Z</dcterms:modified>
</cp:coreProperties>
</file>